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3"/>
    <p:sldId id="266" r:id="rId4"/>
    <p:sldId id="267" r:id="rId5"/>
    <p:sldId id="268" r:id="rId6"/>
    <p:sldId id="269" r:id="rId7"/>
    <p:sldId id="270" r:id="rId8"/>
    <p:sldId id="262" r:id="rId9"/>
    <p:sldId id="273" r:id="rId10"/>
    <p:sldId id="275" r:id="rId11"/>
    <p:sldId id="288" r:id="rId12"/>
    <p:sldId id="293" r:id="rId13"/>
    <p:sldId id="274" r:id="rId14"/>
    <p:sldId id="276" r:id="rId15"/>
    <p:sldId id="289" r:id="rId16"/>
    <p:sldId id="294" r:id="rId17"/>
    <p:sldId id="278" r:id="rId18"/>
    <p:sldId id="296" r:id="rId19"/>
    <p:sldId id="277" r:id="rId20"/>
    <p:sldId id="280" r:id="rId21"/>
    <p:sldId id="281" r:id="rId22"/>
    <p:sldId id="290" r:id="rId23"/>
    <p:sldId id="297" r:id="rId24"/>
    <p:sldId id="291" r:id="rId25"/>
    <p:sldId id="292" r:id="rId26"/>
    <p:sldId id="283" r:id="rId27"/>
    <p:sldId id="298" r:id="rId28"/>
    <p:sldId id="299" r:id="rId29"/>
    <p:sldId id="300" r:id="rId30"/>
    <p:sldId id="301" r:id="rId31"/>
    <p:sldId id="303" r:id="rId32"/>
    <p:sldId id="302" r:id="rId33"/>
    <p:sldId id="304" r:id="rId34"/>
    <p:sldId id="285" r:id="rId35"/>
    <p:sldId id="286" r:id="rId36"/>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howGuides="1">
      <p:cViewPr varScale="1">
        <p:scale>
          <a:sx n="65" d="100"/>
          <a:sy n="65" d="100"/>
        </p:scale>
        <p:origin x="1536" y="7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9" Type="http://schemas.openxmlformats.org/officeDocument/2006/relationships/tableStyles" Target="tableStyles.xml"/><Relationship Id="rId38" Type="http://schemas.openxmlformats.org/officeDocument/2006/relationships/viewProps" Target="viewProps.xml"/><Relationship Id="rId37" Type="http://schemas.openxmlformats.org/officeDocument/2006/relationships/presProps" Target="presProps.xml"/><Relationship Id="rId36" Type="http://schemas.openxmlformats.org/officeDocument/2006/relationships/slide" Target="slides/slide34.xml"/><Relationship Id="rId35" Type="http://schemas.openxmlformats.org/officeDocument/2006/relationships/slide" Target="slides/slide33.xml"/><Relationship Id="rId34" Type="http://schemas.openxmlformats.org/officeDocument/2006/relationships/slide" Target="slides/slide32.xml"/><Relationship Id="rId33" Type="http://schemas.openxmlformats.org/officeDocument/2006/relationships/slide" Target="slides/slide31.xml"/><Relationship Id="rId32" Type="http://schemas.openxmlformats.org/officeDocument/2006/relationships/slide" Target="slides/slide30.xml"/><Relationship Id="rId31" Type="http://schemas.openxmlformats.org/officeDocument/2006/relationships/slide" Target="slides/slide29.xml"/><Relationship Id="rId30" Type="http://schemas.openxmlformats.org/officeDocument/2006/relationships/slide" Target="slides/slide28.xml"/><Relationship Id="rId3" Type="http://schemas.openxmlformats.org/officeDocument/2006/relationships/slide" Target="slides/slide1.xml"/><Relationship Id="rId29" Type="http://schemas.openxmlformats.org/officeDocument/2006/relationships/slide" Target="slides/slide27.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516624"/>
            <a:ext cx="7315200" cy="2595025"/>
          </a:xfrm>
        </p:spPr>
        <p:txBody>
          <a:bodyPr>
            <a:normAutofit/>
          </a:bodyPr>
          <a:lstStyle>
            <a:lvl1pPr>
              <a:defRPr sz="4800"/>
            </a:lvl1pPr>
          </a:lstStyle>
          <a:p>
            <a:r>
              <a:rPr lang="en-US"/>
              <a:t>Click to edit Master title style</a:t>
            </a:r>
            <a:endParaRPr lang="en-US"/>
          </a:p>
        </p:txBody>
      </p:sp>
      <p:sp>
        <p:nvSpPr>
          <p:cNvPr id="3" name="Subtitle 2"/>
          <p:cNvSpPr>
            <a:spLocks noGrp="1"/>
          </p:cNvSpPr>
          <p:nvPr>
            <p:ph type="subTitle" idx="1"/>
          </p:nvPr>
        </p:nvSpPr>
        <p:spPr>
          <a:xfrm>
            <a:off x="914400" y="5166530"/>
            <a:ext cx="7315200" cy="1144632"/>
          </a:xfrm>
        </p:spPr>
        <p:txBody>
          <a:bodyPr>
            <a:normAutofit/>
          </a:bodyPr>
          <a:lstStyle>
            <a:lvl1pPr marL="0" indent="0" algn="l">
              <a:buNone/>
              <a:defRPr sz="22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7" name="Date Placeholder 6"/>
          <p:cNvSpPr>
            <a:spLocks noGrp="1"/>
          </p:cNvSpPr>
          <p:nvPr>
            <p:ph type="dt" sz="half" idx="10"/>
          </p:nvPr>
        </p:nvSpPr>
        <p:spPr/>
        <p:txBody>
          <a:bodyPr/>
          <a:lstStyle/>
          <a:p>
            <a:fld id="{1D8BD707-D9CF-40AE-B4C6-C98DA3205C09}" type="datetimeFigureOut">
              <a:rPr lang="en-US" smtClean="0"/>
            </a:fld>
            <a:endParaRPr lang="en-US"/>
          </a:p>
        </p:txBody>
      </p:sp>
      <p:sp>
        <p:nvSpPr>
          <p:cNvPr id="8" name="Slide Number Placeholder 7"/>
          <p:cNvSpPr>
            <a:spLocks noGrp="1"/>
          </p:cNvSpPr>
          <p:nvPr>
            <p:ph type="sldNum" sz="quarter" idx="11"/>
          </p:nvPr>
        </p:nvSpPr>
        <p:spPr/>
        <p:txBody>
          <a:bodyPr/>
          <a:lstStyle/>
          <a:p>
            <a:fld id="{B6F15528-21DE-4FAA-801E-634DDDAF4B2B}" type="slidenum">
              <a:rPr lang="en-US" smtClean="0"/>
            </a:fld>
            <a:endParaRPr lang="en-US"/>
          </a:p>
        </p:txBody>
      </p:sp>
      <p:sp>
        <p:nvSpPr>
          <p:cNvPr id="9" name="Footer Placeholder 8"/>
          <p:cNvSpPr>
            <a:spLocks noGrp="1"/>
          </p:cNvSpPr>
          <p:nvPr>
            <p:ph type="ftr" sz="quarter" idx="12"/>
          </p:nvPr>
        </p:nvSpPr>
        <p:spPr/>
        <p:txBody>
          <a:bodyPr/>
          <a:lstStyle/>
          <a:p>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14400" y="5017572"/>
            <a:ext cx="7315200" cy="1293592"/>
          </a:xfrm>
        </p:spPr>
        <p:txBody>
          <a:bodyPr anchor="t"/>
          <a:lstStyle>
            <a:lvl1pPr algn="l">
              <a:defRPr sz="4000" b="0" cap="none"/>
            </a:lvl1pPr>
          </a:lstStyle>
          <a:p>
            <a:r>
              <a:rPr lang="en-US"/>
              <a:t>Click to edit Master title style</a:t>
            </a:r>
            <a:endParaRPr lang="en-US"/>
          </a:p>
        </p:txBody>
      </p:sp>
      <p:sp>
        <p:nvSpPr>
          <p:cNvPr id="3" name="Text Placeholder 2"/>
          <p:cNvSpPr>
            <a:spLocks noGrp="1"/>
          </p:cNvSpPr>
          <p:nvPr>
            <p:ph type="body" idx="1"/>
          </p:nvPr>
        </p:nvSpPr>
        <p:spPr>
          <a:xfrm>
            <a:off x="914400" y="3865097"/>
            <a:ext cx="7315200" cy="1098439"/>
          </a:xfrm>
        </p:spPr>
        <p:txBody>
          <a:bodyPr anchor="b"/>
          <a:lstStyle>
            <a:lvl1pPr marL="0" indent="0">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5" name="Date Placeholder 4"/>
          <p:cNvSpPr>
            <a:spLocks noGrp="1"/>
          </p:cNvSpPr>
          <p:nvPr>
            <p:ph type="dt" sz="half" idx="10"/>
          </p:nvPr>
        </p:nvSpPr>
        <p:spPr/>
        <p:txBody>
          <a:bodyPr/>
          <a:lstStyle/>
          <a:p>
            <a:fld id="{1D8BD707-D9CF-40AE-B4C6-C98DA3205C09}"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fld>
            <a:endParaRPr lang="en-US"/>
          </a:p>
        </p:txBody>
      </p:sp>
      <p:sp>
        <p:nvSpPr>
          <p:cNvPr id="9" name="Title 8"/>
          <p:cNvSpPr>
            <a:spLocks noGrp="1"/>
          </p:cNvSpPr>
          <p:nvPr>
            <p:ph type="title"/>
          </p:nvPr>
        </p:nvSpPr>
        <p:spPr>
          <a:xfrm>
            <a:off x="914400" y="1544715"/>
            <a:ext cx="7315200" cy="1154097"/>
          </a:xfrm>
        </p:spPr>
        <p:txBody>
          <a:bodyPr/>
          <a:lstStyle/>
          <a:p>
            <a:r>
              <a:rPr lang="en-US"/>
              <a:t>Click to edit Master title style</a:t>
            </a:r>
            <a:endParaRPr lang="en-US"/>
          </a:p>
        </p:txBody>
      </p:sp>
      <p:sp>
        <p:nvSpPr>
          <p:cNvPr id="8" name="Content Placeholder 7"/>
          <p:cNvSpPr>
            <a:spLocks noGrp="1"/>
          </p:cNvSpPr>
          <p:nvPr>
            <p:ph sz="quarter" idx="13"/>
          </p:nvPr>
        </p:nvSpPr>
        <p:spPr>
          <a:xfrm>
            <a:off x="914400" y="2743200"/>
            <a:ext cx="3566160" cy="3593592"/>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11" name="Content Placeholder 10"/>
          <p:cNvSpPr>
            <a:spLocks noGrp="1"/>
          </p:cNvSpPr>
          <p:nvPr>
            <p:ph sz="quarter" idx="14"/>
          </p:nvPr>
        </p:nvSpPr>
        <p:spPr>
          <a:xfrm>
            <a:off x="4681728" y="2743200"/>
            <a:ext cx="3566160" cy="3595687"/>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116348" y="2743200"/>
            <a:ext cx="3364992" cy="621792"/>
          </a:xfrm>
        </p:spPr>
        <p:txBody>
          <a:bodyPr anchor="b">
            <a:noAutofit/>
          </a:bodyPr>
          <a:lstStyle>
            <a:lvl1pPr marL="0" indent="0">
              <a:buNone/>
              <a:defRPr sz="2000" b="1">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5" name="Text Placeholder 4"/>
          <p:cNvSpPr>
            <a:spLocks noGrp="1"/>
          </p:cNvSpPr>
          <p:nvPr>
            <p:ph type="body" sz="quarter" idx="3"/>
          </p:nvPr>
        </p:nvSpPr>
        <p:spPr>
          <a:xfrm>
            <a:off x="4885144" y="2743200"/>
            <a:ext cx="3362062" cy="621792"/>
          </a:xfrm>
        </p:spPr>
        <p:txBody>
          <a:bodyPr anchor="b">
            <a:noAutofit/>
          </a:bodyPr>
          <a:lstStyle>
            <a:lvl1pPr marL="0" indent="0">
              <a:buNone/>
              <a:defRPr sz="2000" b="1">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fld>
            <a:endParaRPr lang="en-US"/>
          </a:p>
        </p:txBody>
      </p:sp>
      <p:sp>
        <p:nvSpPr>
          <p:cNvPr id="10" name="Title 9"/>
          <p:cNvSpPr>
            <a:spLocks noGrp="1"/>
          </p:cNvSpPr>
          <p:nvPr>
            <p:ph type="title"/>
          </p:nvPr>
        </p:nvSpPr>
        <p:spPr>
          <a:xfrm>
            <a:off x="914400" y="1544715"/>
            <a:ext cx="7315200" cy="1154097"/>
          </a:xfrm>
        </p:spPr>
        <p:txBody>
          <a:bodyPr/>
          <a:lstStyle/>
          <a:p>
            <a:r>
              <a:rPr lang="en-US"/>
              <a:t>Click to edit Master title style</a:t>
            </a:r>
            <a:endParaRPr lang="en-US" dirty="0"/>
          </a:p>
        </p:txBody>
      </p:sp>
      <p:sp>
        <p:nvSpPr>
          <p:cNvPr id="11" name="Content Placeholder 10"/>
          <p:cNvSpPr>
            <a:spLocks noGrp="1"/>
          </p:cNvSpPr>
          <p:nvPr>
            <p:ph sz="quarter" idx="13"/>
          </p:nvPr>
        </p:nvSpPr>
        <p:spPr>
          <a:xfrm>
            <a:off x="914400" y="3383280"/>
            <a:ext cx="3566160" cy="2953512"/>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13" name="Content Placeholder 12"/>
          <p:cNvSpPr>
            <a:spLocks noGrp="1"/>
          </p:cNvSpPr>
          <p:nvPr>
            <p:ph sz="quarter" idx="14"/>
          </p:nvPr>
        </p:nvSpPr>
        <p:spPr>
          <a:xfrm>
            <a:off x="4681727" y="3383280"/>
            <a:ext cx="3566160" cy="2953512"/>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4400" y="1825362"/>
            <a:ext cx="2950936" cy="2173015"/>
          </a:xfrm>
        </p:spPr>
        <p:txBody>
          <a:bodyPr anchor="b">
            <a:normAutofit/>
          </a:bodyPr>
          <a:lstStyle>
            <a:lvl1pPr algn="l">
              <a:defRPr sz="2800" b="0"/>
            </a:lvl1pPr>
          </a:lstStyle>
          <a:p>
            <a:r>
              <a:rPr lang="en-US"/>
              <a:t>Click to edit Master title style</a:t>
            </a:r>
            <a:endParaRPr lang="en-US" dirty="0"/>
          </a:p>
        </p:txBody>
      </p:sp>
      <p:sp>
        <p:nvSpPr>
          <p:cNvPr id="3" name="Content Placeholder 2"/>
          <p:cNvSpPr>
            <a:spLocks noGrp="1"/>
          </p:cNvSpPr>
          <p:nvPr>
            <p:ph idx="1"/>
          </p:nvPr>
        </p:nvSpPr>
        <p:spPr>
          <a:xfrm>
            <a:off x="4021752" y="1826709"/>
            <a:ext cx="4207848" cy="4476614"/>
          </a:xfrm>
        </p:spPr>
        <p:txBody>
          <a:bodyPr anchor="ctr"/>
          <a:lstStyle>
            <a:lvl1pPr>
              <a:defRPr sz="2000"/>
            </a:lvl1pPr>
            <a:lvl2pPr>
              <a:defRPr sz="1800"/>
            </a:lvl2pPr>
            <a:lvl3pPr>
              <a:defRPr sz="1600"/>
            </a:lvl3pPr>
            <a:lvl4pPr>
              <a:defRPr sz="1400"/>
            </a:lvl4pPr>
            <a:lvl5pPr>
              <a:defRPr sz="1400"/>
            </a:lvl5pPr>
            <a:lvl6pPr>
              <a:defRPr sz="2000"/>
            </a:lvl6pPr>
            <a:lvl7pPr>
              <a:defRPr sz="2000"/>
            </a:lvl7pPr>
            <a:lvl8pPr>
              <a:defRPr sz="2000"/>
            </a:lvl8pPr>
            <a:lvl9pPr>
              <a:defRPr sz="20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Text Placeholder 3"/>
          <p:cNvSpPr>
            <a:spLocks noGrp="1"/>
          </p:cNvSpPr>
          <p:nvPr>
            <p:ph type="body" sz="half" idx="2"/>
          </p:nvPr>
        </p:nvSpPr>
        <p:spPr>
          <a:xfrm>
            <a:off x="914400" y="4061095"/>
            <a:ext cx="2950936" cy="224538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4400" y="1828800"/>
            <a:ext cx="2953512" cy="2176272"/>
          </a:xfrm>
        </p:spPr>
        <p:txBody>
          <a:bodyPr anchor="b">
            <a:normAutofit/>
          </a:bodyPr>
          <a:lstStyle>
            <a:lvl1pPr algn="l">
              <a:defRPr sz="2800" b="0"/>
            </a:lvl1pPr>
          </a:lstStyle>
          <a:p>
            <a:r>
              <a:rPr lang="en-US"/>
              <a:t>Click to edit Master title style</a:t>
            </a:r>
            <a:endParaRPr lang="en-US" dirty="0"/>
          </a:p>
        </p:txBody>
      </p:sp>
      <p:sp>
        <p:nvSpPr>
          <p:cNvPr id="3" name="Picture Placeholder 2"/>
          <p:cNvSpPr>
            <a:spLocks noGrp="1"/>
          </p:cNvSpPr>
          <p:nvPr>
            <p:ph type="pic" idx="1"/>
          </p:nvPr>
        </p:nvSpPr>
        <p:spPr>
          <a:xfrm>
            <a:off x="4191000" y="2286000"/>
            <a:ext cx="4038600" cy="3352800"/>
          </a:xfrm>
          <a:solidFill>
            <a:schemeClr val="accent2"/>
          </a:solidFill>
          <a:ln w="12700">
            <a:noFill/>
          </a:ln>
          <a:effectLst>
            <a:reflection blurRad="12700" stA="30000" endPos="30000" dist="31750" dir="5400000" sy="-100000" algn="bl" rotWithShape="0"/>
          </a:effectLst>
          <a:scene3d>
            <a:camera prst="perspectiveRight" fov="2700000">
              <a:rot lat="240000" lon="900000" rev="0"/>
            </a:camera>
            <a:lightRig rig="threePt" dir="t">
              <a:rot lat="0" lon="0" rev="2700000"/>
            </a:lightRig>
          </a:scene3d>
          <a:sp3d/>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4400" y="4059936"/>
            <a:ext cx="2953512" cy="2249424"/>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48400" y="1826709"/>
            <a:ext cx="1492499" cy="4484454"/>
          </a:xfrm>
        </p:spPr>
        <p:txBody>
          <a:bodyPr vert="eaVert"/>
          <a:lstStyle/>
          <a:p>
            <a:r>
              <a:rPr lang="en-US"/>
              <a:t>Click to edit Master title style</a:t>
            </a:r>
            <a:endParaRPr lang="en-US"/>
          </a:p>
        </p:txBody>
      </p:sp>
      <p:sp>
        <p:nvSpPr>
          <p:cNvPr id="3" name="Vertical Text Placeholder 2"/>
          <p:cNvSpPr>
            <a:spLocks noGrp="1"/>
          </p:cNvSpPr>
          <p:nvPr>
            <p:ph type="body" orient="vert" idx="1"/>
          </p:nvPr>
        </p:nvSpPr>
        <p:spPr>
          <a:xfrm>
            <a:off x="854524" y="1826709"/>
            <a:ext cx="5241476" cy="4484454"/>
          </a:xfr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2"/>
      </p:bgRef>
    </p:bg>
    <p:spTree>
      <p:nvGrpSpPr>
        <p:cNvPr id="1" name=""/>
        <p:cNvGrpSpPr/>
        <p:nvPr/>
      </p:nvGrpSpPr>
      <p:grpSpPr>
        <a:xfrm>
          <a:off x="0" y="0"/>
          <a:ext cx="0" cy="0"/>
          <a:chOff x="0" y="0"/>
          <a:chExt cx="0" cy="0"/>
        </a:xfrm>
      </p:grpSpPr>
      <p:sp>
        <p:nvSpPr>
          <p:cNvPr id="10" name="Rectangle 9"/>
          <p:cNvSpPr/>
          <p:nvPr/>
        </p:nvSpPr>
        <p:spPr>
          <a:xfrm>
            <a:off x="8435268" y="573807"/>
            <a:ext cx="86236" cy="572316"/>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p:cNvSpPr/>
          <p:nvPr/>
        </p:nvSpPr>
        <p:spPr>
          <a:xfrm>
            <a:off x="8569419" y="573807"/>
            <a:ext cx="576072" cy="572316"/>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laceholder 1"/>
          <p:cNvSpPr>
            <a:spLocks noGrp="1"/>
          </p:cNvSpPr>
          <p:nvPr>
            <p:ph type="title"/>
          </p:nvPr>
        </p:nvSpPr>
        <p:spPr>
          <a:xfrm>
            <a:off x="914400" y="1544715"/>
            <a:ext cx="7315200" cy="115409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914400" y="2769833"/>
            <a:ext cx="7315200" cy="3539527"/>
          </a:xfrm>
          <a:prstGeom prst="rect">
            <a:avLst/>
          </a:prstGeom>
        </p:spPr>
        <p:txBody>
          <a:bodyPr vert="horz" lIns="91440" tIns="45720" rIns="91440" bIns="45720" rtlCol="0">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2"/>
          </p:nvPr>
        </p:nvSpPr>
        <p:spPr>
          <a:xfrm>
            <a:off x="6007690" y="548797"/>
            <a:ext cx="1189132" cy="297918"/>
          </a:xfrm>
          <a:prstGeom prst="rect">
            <a:avLst/>
          </a:prstGeom>
        </p:spPr>
        <p:txBody>
          <a:bodyPr vert="horz" lIns="91440" tIns="45720" rIns="91440" bIns="45720" rtlCol="0" anchor="ctr"/>
          <a:lstStyle>
            <a:lvl1pPr algn="l">
              <a:defRPr sz="1200">
                <a:solidFill>
                  <a:schemeClr val="tx1">
                    <a:alpha val="50000"/>
                  </a:schemeClr>
                </a:solidFill>
              </a:defRPr>
            </a:lvl1pPr>
          </a:lstStyle>
          <a:p>
            <a:fld id="{1D8BD707-D9CF-40AE-B4C6-C98DA3205C09}" type="datetimeFigureOut">
              <a:rPr lang="en-US" smtClean="0"/>
            </a:fld>
            <a:endParaRPr lang="en-US"/>
          </a:p>
        </p:txBody>
      </p:sp>
      <p:sp>
        <p:nvSpPr>
          <p:cNvPr id="6" name="Slide Number Placeholder 5"/>
          <p:cNvSpPr>
            <a:spLocks noGrp="1"/>
          </p:cNvSpPr>
          <p:nvPr>
            <p:ph type="sldNum" sz="quarter" idx="4"/>
          </p:nvPr>
        </p:nvSpPr>
        <p:spPr>
          <a:xfrm>
            <a:off x="7314415" y="548797"/>
            <a:ext cx="941203" cy="301752"/>
          </a:xfrm>
          <a:prstGeom prst="rect">
            <a:avLst/>
          </a:prstGeom>
        </p:spPr>
        <p:txBody>
          <a:bodyPr vert="horz" lIns="91440" tIns="45720" rIns="91440" bIns="45720" rtlCol="0" anchor="ctr"/>
          <a:lstStyle>
            <a:lvl1pPr algn="r">
              <a:defRPr sz="1200">
                <a:solidFill>
                  <a:schemeClr val="tx1"/>
                </a:solidFill>
              </a:defRPr>
            </a:lvl1pPr>
          </a:lstStyle>
          <a:p>
            <a:fld id="{B6F15528-21DE-4FAA-801E-634DDDAF4B2B}" type="slidenum">
              <a:rPr lang="en-US" smtClean="0"/>
            </a:fld>
            <a:endParaRPr lang="en-US"/>
          </a:p>
        </p:txBody>
      </p:sp>
      <p:sp>
        <p:nvSpPr>
          <p:cNvPr id="5" name="Footer Placeholder 4"/>
          <p:cNvSpPr>
            <a:spLocks noGrp="1"/>
          </p:cNvSpPr>
          <p:nvPr>
            <p:ph type="ftr" sz="quarter" idx="3"/>
          </p:nvPr>
        </p:nvSpPr>
        <p:spPr>
          <a:xfrm>
            <a:off x="6008688" y="855956"/>
            <a:ext cx="2246489" cy="301227"/>
          </a:xfrm>
          <a:prstGeom prst="rect">
            <a:avLst/>
          </a:prstGeom>
        </p:spPr>
        <p:txBody>
          <a:bodyPr vert="horz" lIns="91440" tIns="0" rIns="91440" bIns="45720" rtlCol="0" anchor="t"/>
          <a:lstStyle>
            <a:lvl1pPr algn="l">
              <a:defRPr sz="1000">
                <a:solidFill>
                  <a:schemeClr val="tx1"/>
                </a:solidFill>
              </a:defRPr>
            </a:lvl1pPr>
          </a:lstStyle>
          <a:p>
            <a:endParaRPr lang="en-US"/>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spcBef>
          <a:spcPct val="0"/>
        </a:spcBef>
        <a:buNone/>
        <a:defRPr sz="400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28600" indent="-182880" algn="l" defTabSz="914400" rtl="0" eaLnBrk="1" latinLnBrk="0" hangingPunct="1">
        <a:spcBef>
          <a:spcPct val="20000"/>
        </a:spcBef>
        <a:buClr>
          <a:schemeClr val="tx2"/>
        </a:buClr>
        <a:buFont typeface="Wingdings" panose="05000000000000000000" pitchFamily="2" charset="2"/>
        <a:buChar char="§"/>
        <a:defRPr sz="2000" kern="1200">
          <a:solidFill>
            <a:schemeClr val="tx1"/>
          </a:solidFill>
          <a:latin typeface="+mn-lt"/>
          <a:ea typeface="+mn-ea"/>
          <a:cs typeface="+mn-cs"/>
        </a:defRPr>
      </a:lvl1pPr>
      <a:lvl2pPr marL="502920" indent="-182880" algn="l" defTabSz="914400" rtl="0" eaLnBrk="1" latinLnBrk="0" hangingPunct="1">
        <a:spcBef>
          <a:spcPct val="20000"/>
        </a:spcBef>
        <a:buClr>
          <a:schemeClr val="tx2"/>
        </a:buClr>
        <a:buFont typeface="Wingdings" panose="05000000000000000000" pitchFamily="2" charset="2"/>
        <a:buChar char="§"/>
        <a:defRPr sz="1800" kern="1200">
          <a:solidFill>
            <a:schemeClr val="tx1"/>
          </a:solidFill>
          <a:latin typeface="+mn-lt"/>
          <a:ea typeface="+mn-ea"/>
          <a:cs typeface="+mn-cs"/>
        </a:defRPr>
      </a:lvl2pPr>
      <a:lvl3pPr marL="685800" indent="-182880" algn="l" defTabSz="914400" rtl="0" eaLnBrk="1" latinLnBrk="0" hangingPunct="1">
        <a:spcBef>
          <a:spcPct val="20000"/>
        </a:spcBef>
        <a:buClr>
          <a:schemeClr val="tx2"/>
        </a:buClr>
        <a:buFont typeface="Wingdings" panose="05000000000000000000" pitchFamily="2" charset="2"/>
        <a:buChar char="§"/>
        <a:defRPr sz="1600" kern="1200">
          <a:solidFill>
            <a:schemeClr val="tx1"/>
          </a:solidFill>
          <a:latin typeface="+mn-lt"/>
          <a:ea typeface="+mn-ea"/>
          <a:cs typeface="+mn-cs"/>
        </a:defRPr>
      </a:lvl3pPr>
      <a:lvl4pPr marL="914400" indent="-182880" algn="l" defTabSz="914400" rtl="0" eaLnBrk="1" latinLnBrk="0" hangingPunct="1">
        <a:spcBef>
          <a:spcPct val="20000"/>
        </a:spcBef>
        <a:buClr>
          <a:schemeClr val="tx2"/>
        </a:buClr>
        <a:buFont typeface="Wingdings" panose="05000000000000000000" pitchFamily="2" charset="2"/>
        <a:buChar char="§"/>
        <a:defRPr sz="1400" kern="1200">
          <a:solidFill>
            <a:schemeClr val="tx1"/>
          </a:solidFill>
          <a:latin typeface="+mn-lt"/>
          <a:ea typeface="+mn-ea"/>
          <a:cs typeface="+mn-cs"/>
        </a:defRPr>
      </a:lvl4pPr>
      <a:lvl5pPr marL="1143000" indent="-182880" algn="l" defTabSz="914400" rtl="0" eaLnBrk="1" latinLnBrk="0" hangingPunct="1">
        <a:spcBef>
          <a:spcPct val="20000"/>
        </a:spcBef>
        <a:buClr>
          <a:schemeClr val="tx2"/>
        </a:buClr>
        <a:buFont typeface="Wingdings" panose="05000000000000000000" pitchFamily="2" charset="2"/>
        <a:buChar char="§"/>
        <a:defRPr sz="1400" kern="1200">
          <a:solidFill>
            <a:schemeClr val="tx1"/>
          </a:solidFill>
          <a:latin typeface="+mn-lt"/>
          <a:ea typeface="+mn-ea"/>
          <a:cs typeface="+mn-cs"/>
        </a:defRPr>
      </a:lvl5pPr>
      <a:lvl6pPr marL="1371600" indent="-182880" algn="l" defTabSz="914400" rtl="0" eaLnBrk="1" latinLnBrk="0" hangingPunct="1">
        <a:spcBef>
          <a:spcPct val="20000"/>
        </a:spcBef>
        <a:buClr>
          <a:schemeClr val="tx2"/>
        </a:buClr>
        <a:buFont typeface="Wingdings" panose="05000000000000000000" pitchFamily="2" charset="2"/>
        <a:buChar char="§"/>
        <a:defRPr sz="1400" kern="1200">
          <a:solidFill>
            <a:schemeClr val="tx1"/>
          </a:solidFill>
          <a:latin typeface="+mn-lt"/>
          <a:ea typeface="+mn-ea"/>
          <a:cs typeface="+mn-cs"/>
        </a:defRPr>
      </a:lvl6pPr>
      <a:lvl7pPr marL="1600200" indent="-182880" algn="l" defTabSz="914400" rtl="0" eaLnBrk="1" latinLnBrk="0" hangingPunct="1">
        <a:spcBef>
          <a:spcPct val="20000"/>
        </a:spcBef>
        <a:buClr>
          <a:schemeClr val="tx2"/>
        </a:buClr>
        <a:buFont typeface="Wingdings" panose="05000000000000000000" pitchFamily="2" charset="2"/>
        <a:buChar char="§"/>
        <a:defRPr sz="1400" kern="1200">
          <a:solidFill>
            <a:schemeClr val="tx1"/>
          </a:solidFill>
          <a:latin typeface="+mn-lt"/>
          <a:ea typeface="+mn-ea"/>
          <a:cs typeface="+mn-cs"/>
        </a:defRPr>
      </a:lvl7pPr>
      <a:lvl8pPr marL="1828800" indent="-182880" algn="l" defTabSz="914400" rtl="0" eaLnBrk="1" latinLnBrk="0" hangingPunct="1">
        <a:spcBef>
          <a:spcPct val="20000"/>
        </a:spcBef>
        <a:buClr>
          <a:schemeClr val="tx2"/>
        </a:buClr>
        <a:buFont typeface="Wingdings" panose="05000000000000000000" pitchFamily="2" charset="2"/>
        <a:buChar char="§"/>
        <a:defRPr sz="1400" kern="1200">
          <a:solidFill>
            <a:schemeClr val="tx1"/>
          </a:solidFill>
          <a:latin typeface="+mn-lt"/>
          <a:ea typeface="+mn-ea"/>
          <a:cs typeface="+mn-cs"/>
        </a:defRPr>
      </a:lvl8pPr>
      <a:lvl9pPr marL="2057400" indent="-182880" algn="l" defTabSz="914400" rtl="0" eaLnBrk="1" latinLnBrk="0" hangingPunct="1">
        <a:spcBef>
          <a:spcPct val="20000"/>
        </a:spcBef>
        <a:buClr>
          <a:schemeClr val="tx2"/>
        </a:buClr>
        <a:buFont typeface="Wingdings" panose="05000000000000000000" pitchFamily="2" charset="2"/>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5.png"/></Relationships>
</file>

<file path=ppt/slides/_rels/slide27.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6.png"/></Relationships>
</file>

<file path=ppt/slides/_rels/slide28.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7.png"/></Relationships>
</file>

<file path=ppt/slides/_rels/slide29.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8.png"/></Relationships>
</file>

<file path=ppt/slides/_rels/slide30.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9.png"/></Relationships>
</file>

<file path=ppt/slides/_rels/slide31.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10.png"/></Relationships>
</file>

<file path=ppt/slides/_rels/slide32.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11.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51387" y="3504878"/>
            <a:ext cx="7543800" cy="1676400"/>
          </a:xfrm>
        </p:spPr>
        <p:txBody>
          <a:bodyPr>
            <a:normAutofit fontScale="90000"/>
          </a:bodyPr>
          <a:lstStyle/>
          <a:p>
            <a:r>
              <a:rPr lang="en-IN" b="1" u="sng" dirty="0"/>
              <a:t>AI POWERED PREDICTION OF STRESS LEVEL WITH THE CO ORDINATION OF  HEART AND BRAIN USING MACHINE LEARNING</a:t>
            </a:r>
            <a:endParaRPr lang="en-IN" dirty="0"/>
          </a:p>
        </p:txBody>
      </p:sp>
      <p:sp>
        <p:nvSpPr>
          <p:cNvPr id="3" name="Subtitle 2"/>
          <p:cNvSpPr>
            <a:spLocks noGrp="1"/>
          </p:cNvSpPr>
          <p:nvPr>
            <p:ph type="subTitle" idx="1"/>
          </p:nvPr>
        </p:nvSpPr>
        <p:spPr/>
        <p:txBody>
          <a:bodyPr/>
          <a:lstStyle/>
          <a:p>
            <a:r>
              <a:rPr lang="en-US" dirty="0"/>
              <a:t> </a:t>
            </a:r>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0" y="381000"/>
            <a:ext cx="7315200" cy="1066799"/>
          </a:xfrm>
        </p:spPr>
        <p:txBody>
          <a:bodyPr/>
          <a:lstStyle/>
          <a:p>
            <a:r>
              <a:rPr lang="en-IN" b="1" dirty="0"/>
              <a:t>Abstract:</a:t>
            </a:r>
            <a:endParaRPr lang="en-IN" dirty="0"/>
          </a:p>
        </p:txBody>
      </p:sp>
      <p:sp>
        <p:nvSpPr>
          <p:cNvPr id="3" name="Content Placeholder 2"/>
          <p:cNvSpPr>
            <a:spLocks noGrp="1"/>
          </p:cNvSpPr>
          <p:nvPr>
            <p:ph idx="1"/>
          </p:nvPr>
        </p:nvSpPr>
        <p:spPr>
          <a:xfrm>
            <a:off x="914400" y="1828801"/>
            <a:ext cx="7620000" cy="4480560"/>
          </a:xfrm>
        </p:spPr>
        <p:txBody>
          <a:bodyPr>
            <a:normAutofit fontScale="85000" lnSpcReduction="10000"/>
          </a:bodyPr>
          <a:lstStyle/>
          <a:p>
            <a:r>
              <a:rPr lang="en-IN" dirty="0"/>
              <a:t> </a:t>
            </a:r>
            <a:r>
              <a:rPr lang="en-IN" dirty="0" err="1"/>
              <a:t>NeurocardioSync</a:t>
            </a:r>
            <a:r>
              <a:rPr lang="en-IN" dirty="0"/>
              <a:t> is a cutting-edge software system that leverages machine learning algorithms to predict an individual’s stress levels by </a:t>
            </a:r>
            <a:r>
              <a:rPr lang="en-IN" dirty="0" err="1"/>
              <a:t>analyzing</a:t>
            </a:r>
            <a:r>
              <a:rPr lang="en-IN" dirty="0"/>
              <a:t> physiological and neurological parameters related to the heart and brain. Human daily activities and lifestyle habits can gradually disrupt the natural coordination between the cardiovascular and nervous systems, leading to chronic stress and associated health issues. Conventional health checkups often fail to detect these subtle changes early due to their infrequent nature. </a:t>
            </a:r>
            <a:r>
              <a:rPr lang="en-IN" dirty="0" err="1"/>
              <a:t>NeurocardioSync</a:t>
            </a:r>
            <a:r>
              <a:rPr lang="en-IN" dirty="0"/>
              <a:t> continuously monitors relevant heart and brain signals, processes them using advanced machine learning models, and provides accurate stress predictions. This proactive approach enables early detection and personalized interventions to maintain mental and physical well-being. The system integrates data-driven insights, real-time analysis, and predictive intelligence to offer a comprehensive understanding of brain-heart interactions under various conditions.</a:t>
            </a:r>
            <a:endParaRPr lang="en-IN" dirty="0"/>
          </a:p>
          <a:p>
            <a:pPr marL="45720" indent="0">
              <a:buNone/>
            </a:pPr>
            <a:r>
              <a:rPr lang="en-IN" b="1" dirty="0"/>
              <a:t>Keywords:</a:t>
            </a:r>
            <a:endParaRPr lang="en-IN" dirty="0"/>
          </a:p>
          <a:p>
            <a:r>
              <a:rPr lang="en-AU" dirty="0"/>
              <a:t>        </a:t>
            </a:r>
            <a:r>
              <a:rPr lang="en-IN" dirty="0"/>
              <a:t>Stress prediction, Brain-heart coordination, Machine learning, Physiological monitoring, Neural signals, Cardiovascular signals, Neurocardiac health, Chronic stress detection, Health analytics.</a:t>
            </a:r>
            <a:endParaRPr lang="en-IN" dirty="0"/>
          </a:p>
          <a:p>
            <a:pPr marL="45720" indent="0">
              <a:buNone/>
            </a:pPr>
            <a:endParaRPr lang="en-IN"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457200"/>
            <a:ext cx="7315200" cy="1066799"/>
          </a:xfrm>
        </p:spPr>
        <p:txBody>
          <a:bodyPr/>
          <a:lstStyle/>
          <a:p>
            <a:r>
              <a:rPr lang="en-IN" b="1" dirty="0"/>
              <a:t>Existing System:</a:t>
            </a:r>
            <a:endParaRPr lang="en-IN" dirty="0"/>
          </a:p>
        </p:txBody>
      </p:sp>
      <p:sp>
        <p:nvSpPr>
          <p:cNvPr id="3" name="Content Placeholder 2"/>
          <p:cNvSpPr>
            <a:spLocks noGrp="1"/>
          </p:cNvSpPr>
          <p:nvPr>
            <p:ph idx="1"/>
          </p:nvPr>
        </p:nvSpPr>
        <p:spPr>
          <a:xfrm>
            <a:off x="533400" y="1828801"/>
            <a:ext cx="8229600" cy="3810000"/>
          </a:xfrm>
        </p:spPr>
        <p:txBody>
          <a:bodyPr>
            <a:noAutofit/>
          </a:bodyPr>
          <a:lstStyle/>
          <a:p>
            <a:r>
              <a:rPr lang="en-IN" sz="1400" dirty="0"/>
              <a:t>Recent advancements in the manufacturing and commercialisation of miniaturised sensors and low-cost wearables have enabled an effortless monitoring of lifestyle by detecting and analysing physiological signals. Heart rate variability (HRV) denotes the time interval between consecutive heartbeats. The HRV signal, as detected by the sensors and devices, has been popularly used as an indicative measure to estimate the level of stress, depression, and anxiety. For years, artificial intelligence (AI)-based learning systems have been known for their predictive capabilities, and in recent years, AI models with deep learning (DL) architectures have been successfully applied to achieve unprecedented accuracy. In order to deter mine effective methodologies applied to the collection, processing, and prediction of stress from HRV data, this work presents an in depth analysis of 43 studies reporting the application of various AI algorithms. The methods are summarised in tables and thoroughly evaluated to ensure the completeness of their findings and reported results. To make the work comprehensive, a detailed review has been conducted on sensing technologies, pre-processing methods applied on multi-modal data, and employed prediction models. This is followed by a critical examination of how various Machine Learning (ML) models, have been utilised in predicting stress from HRV data. In addition, the reported results from the selected studies have been carefully analysed to identify features that enable the models to perform better. Finally, the challenges of using HRV to predict stress are listed, along with some possible mitigation strategies. This work aims to highlight the impact of AI-based stress prediction methodologies from HRV data, and is expected to aid the development of more meticulous techniques.</a:t>
            </a:r>
            <a:endParaRPr lang="en-IN"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457200"/>
            <a:ext cx="7315200" cy="1066799"/>
          </a:xfrm>
        </p:spPr>
        <p:txBody>
          <a:bodyPr/>
          <a:lstStyle/>
          <a:p>
            <a:r>
              <a:rPr lang="en-IN" b="1" dirty="0"/>
              <a:t>Disadvantages:</a:t>
            </a:r>
            <a:endParaRPr lang="en-IN" dirty="0"/>
          </a:p>
        </p:txBody>
      </p:sp>
      <p:sp>
        <p:nvSpPr>
          <p:cNvPr id="3" name="Content Placeholder 2"/>
          <p:cNvSpPr>
            <a:spLocks noGrp="1"/>
          </p:cNvSpPr>
          <p:nvPr>
            <p:ph idx="1"/>
          </p:nvPr>
        </p:nvSpPr>
        <p:spPr>
          <a:xfrm>
            <a:off x="914400" y="1920240"/>
            <a:ext cx="7315200" cy="4480560"/>
          </a:xfrm>
        </p:spPr>
        <p:txBody>
          <a:bodyPr>
            <a:normAutofit lnSpcReduction="10000"/>
          </a:bodyPr>
          <a:lstStyle/>
          <a:p>
            <a:pPr lvl="0"/>
            <a:r>
              <a:rPr lang="en-IN" dirty="0"/>
              <a:t>Miniaturized wearable sensors may suffer from noise, signal drift, or poor placement, which can affect the accuracy of HRV measurements and, consequently, stress predictions.</a:t>
            </a:r>
            <a:endParaRPr lang="en-IN" dirty="0"/>
          </a:p>
          <a:p>
            <a:pPr lvl="0"/>
            <a:r>
              <a:rPr lang="en-IN" dirty="0"/>
              <a:t>Most systems rely heavily on HRV alone, without fully integrating other physiological signals (EEG, GSR, respiratory rate), which may limit the prediction accuracy for complex stress scenarios.</a:t>
            </a:r>
            <a:endParaRPr lang="en-IN" dirty="0"/>
          </a:p>
          <a:p>
            <a:pPr lvl="0"/>
            <a:r>
              <a:rPr lang="en-IN" dirty="0"/>
              <a:t>HRV patterns can vary significantly between individuals due to age, gender, fitness level, or pre-existing health conditions, making it challenging for AI models to generalize across diverse populations.</a:t>
            </a:r>
            <a:endParaRPr lang="en-IN" dirty="0"/>
          </a:p>
          <a:p>
            <a:pPr lvl="0"/>
            <a:r>
              <a:rPr lang="en-IN" dirty="0"/>
              <a:t>HRV data alone cannot account for psychological or environmental factors influencing stress (e.g., workload, lifestyle, emotional state), which may lead to false positives or negatives.</a:t>
            </a:r>
            <a:endParaRPr lang="en-IN"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304800"/>
            <a:ext cx="7315200" cy="1066799"/>
          </a:xfrm>
        </p:spPr>
        <p:txBody>
          <a:bodyPr/>
          <a:lstStyle/>
          <a:p>
            <a:r>
              <a:rPr lang="en-IN" b="1" dirty="0"/>
              <a:t>Proposed System:</a:t>
            </a:r>
            <a:endParaRPr lang="en-IN" dirty="0"/>
          </a:p>
        </p:txBody>
      </p:sp>
      <p:sp>
        <p:nvSpPr>
          <p:cNvPr id="3" name="Content Placeholder 2"/>
          <p:cNvSpPr>
            <a:spLocks noGrp="1"/>
          </p:cNvSpPr>
          <p:nvPr>
            <p:ph idx="1"/>
          </p:nvPr>
        </p:nvSpPr>
        <p:spPr>
          <a:xfrm>
            <a:off x="914400" y="1828801"/>
            <a:ext cx="7315200" cy="4480560"/>
          </a:xfrm>
        </p:spPr>
        <p:txBody>
          <a:bodyPr>
            <a:normAutofit fontScale="85000" lnSpcReduction="10000"/>
          </a:bodyPr>
          <a:lstStyle/>
          <a:p>
            <a:r>
              <a:rPr lang="en-IN" dirty="0"/>
              <a:t>The proposed system </a:t>
            </a:r>
            <a:r>
              <a:rPr lang="en-IN" dirty="0" err="1"/>
              <a:t>NeurocardiaSync</a:t>
            </a:r>
            <a:r>
              <a:rPr lang="en-IN" dirty="0"/>
              <a:t> is an AI powered stress prediction framework that continuously </a:t>
            </a:r>
            <a:r>
              <a:rPr lang="en-IN" dirty="0" err="1"/>
              <a:t>analyzes</a:t>
            </a:r>
            <a:r>
              <a:rPr lang="en-IN" dirty="0"/>
              <a:t> heart and brain related physiological data to assess an individual’s stress level in real time. The system integrates multi modal sensor data, including Heart Rate Variability (HRV) derived from ECG/PPG signals and brain electrical activity (EEG), to capture subtle changes in autonomic and cognitive responses caused by stress. Initial data acquisition collects real time signals during typical daily activities using wearable sensors. Next, advanced signal processing methods extract meaningful features such as HRV metrics and EEG band power indicators. These features are then fed into machine learning models (e.g., ensemble classifiers or deep learning architectures) trained to distinguish between stress levels (low/medium/high). By correlating cardiac dynamics with neural signatures, </a:t>
            </a:r>
            <a:r>
              <a:rPr lang="en-IN" dirty="0" err="1"/>
              <a:t>NeurocardiaSync</a:t>
            </a:r>
            <a:r>
              <a:rPr lang="en-IN" dirty="0"/>
              <a:t> offers a robust and personalized stress estimation tool that highlights deviations from normal brain heart coordination. The system also provides visual dashboards and alerts to guide users toward timely interventions and lifestyle modifications, thereby promoting better mental and physical health outcomes. </a:t>
            </a:r>
            <a:endParaRPr lang="en-IN"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536349"/>
            <a:ext cx="7315200" cy="1066799"/>
          </a:xfrm>
        </p:spPr>
        <p:txBody>
          <a:bodyPr/>
          <a:lstStyle/>
          <a:p>
            <a:r>
              <a:rPr lang="en-IN" b="1" dirty="0"/>
              <a:t>Advantages:</a:t>
            </a:r>
            <a:endParaRPr lang="en-IN" dirty="0"/>
          </a:p>
        </p:txBody>
      </p:sp>
      <p:sp>
        <p:nvSpPr>
          <p:cNvPr id="3" name="Content Placeholder 2"/>
          <p:cNvSpPr>
            <a:spLocks noGrp="1"/>
          </p:cNvSpPr>
          <p:nvPr>
            <p:ph idx="1"/>
          </p:nvPr>
        </p:nvSpPr>
        <p:spPr>
          <a:xfrm>
            <a:off x="914400" y="1828801"/>
            <a:ext cx="7315200" cy="4480560"/>
          </a:xfrm>
        </p:spPr>
        <p:txBody>
          <a:bodyPr>
            <a:normAutofit/>
          </a:bodyPr>
          <a:lstStyle/>
          <a:p>
            <a:pPr lvl="0"/>
            <a:r>
              <a:rPr lang="en-IN" dirty="0"/>
              <a:t>Early Stress Detection: Identifies stress before it manifests as physical or mental health issues. </a:t>
            </a:r>
            <a:endParaRPr lang="en-IN" dirty="0"/>
          </a:p>
          <a:p>
            <a:pPr lvl="0"/>
            <a:r>
              <a:rPr lang="en-IN" dirty="0"/>
              <a:t>Continuous Monitoring: Tracks heart and brain coordination in real-time, unlike periodic health checkups. </a:t>
            </a:r>
            <a:endParaRPr lang="en-IN" dirty="0"/>
          </a:p>
          <a:p>
            <a:pPr lvl="0"/>
            <a:r>
              <a:rPr lang="en-IN" dirty="0"/>
              <a:t>Personalized Insights: Offers individualized recommendations based on unique physiological patterns. </a:t>
            </a:r>
            <a:endParaRPr lang="en-IN" dirty="0"/>
          </a:p>
          <a:p>
            <a:pPr lvl="0"/>
            <a:r>
              <a:rPr lang="en-IN" dirty="0"/>
              <a:t>Data-Driven Approach: Leverages machine learning for accurate and reliable stress prediction. </a:t>
            </a:r>
            <a:endParaRPr lang="en-IN" dirty="0"/>
          </a:p>
          <a:p>
            <a:pPr lvl="0"/>
            <a:r>
              <a:rPr lang="en-IN" dirty="0"/>
              <a:t>Preventive Healthcare: Supports proactive management of chronic stress and related health risks. </a:t>
            </a:r>
            <a:endParaRPr lang="en-IN" dirty="0"/>
          </a:p>
          <a:p>
            <a:pPr lvl="0"/>
            <a:r>
              <a:rPr lang="en-IN" dirty="0"/>
              <a:t>Non-Invasive: Uses wearable sensors and software-based analysis, ensuring user comfort.</a:t>
            </a:r>
            <a:endParaRPr lang="en-IN"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2342" y="342900"/>
            <a:ext cx="7924800" cy="2209799"/>
          </a:xfrm>
        </p:spPr>
        <p:txBody>
          <a:bodyPr>
            <a:normAutofit/>
          </a:bodyPr>
          <a:lstStyle/>
          <a:p>
            <a:r>
              <a:rPr lang="en-US" sz="2400" b="1" dirty="0"/>
              <a:t>Environmental Requirements: </a:t>
            </a:r>
            <a:br>
              <a:rPr lang="en-IN" sz="2400" dirty="0"/>
            </a:br>
            <a:br>
              <a:rPr lang="en-IN" dirty="0"/>
            </a:br>
            <a:endParaRPr lang="en-IN" dirty="0"/>
          </a:p>
        </p:txBody>
      </p:sp>
      <p:sp>
        <p:nvSpPr>
          <p:cNvPr id="3" name="Content Placeholder 2"/>
          <p:cNvSpPr>
            <a:spLocks noGrp="1"/>
          </p:cNvSpPr>
          <p:nvPr>
            <p:ph idx="1"/>
          </p:nvPr>
        </p:nvSpPr>
        <p:spPr>
          <a:xfrm>
            <a:off x="609600" y="2043142"/>
            <a:ext cx="7924800" cy="4861560"/>
          </a:xfrm>
        </p:spPr>
        <p:txBody>
          <a:bodyPr/>
          <a:lstStyle/>
          <a:p>
            <a:pPr marL="45720" indent="0">
              <a:buNone/>
            </a:pPr>
            <a:r>
              <a:rPr lang="en-US" dirty="0"/>
              <a:t>1. Software Requirements:</a:t>
            </a:r>
            <a:endParaRPr lang="en-IN" dirty="0"/>
          </a:p>
          <a:p>
            <a:pPr marL="45720" indent="0">
              <a:buNone/>
            </a:pPr>
            <a:r>
              <a:rPr lang="en-US" dirty="0"/>
              <a:t>	Operating System 	: Windows </a:t>
            </a:r>
            <a:endParaRPr lang="en-IN" dirty="0"/>
          </a:p>
          <a:p>
            <a:pPr marL="45720" indent="0">
              <a:buNone/>
            </a:pPr>
            <a:r>
              <a:rPr lang="en-US" dirty="0"/>
              <a:t>	Tool   			: Anaconda with </a:t>
            </a:r>
            <a:r>
              <a:rPr lang="en-US" dirty="0" err="1"/>
              <a:t>Jupyter</a:t>
            </a:r>
            <a:r>
              <a:rPr lang="en-US" dirty="0"/>
              <a:t> Notebook</a:t>
            </a:r>
            <a:endParaRPr lang="en-IN" dirty="0"/>
          </a:p>
          <a:p>
            <a:pPr marL="45720" indent="0">
              <a:buNone/>
            </a:pPr>
            <a:endParaRPr lang="en-US" dirty="0"/>
          </a:p>
          <a:p>
            <a:pPr marL="45720" indent="0">
              <a:buNone/>
            </a:pPr>
            <a:r>
              <a:rPr lang="en-US" dirty="0"/>
              <a:t>2. Hardware requirements:</a:t>
            </a:r>
            <a:endParaRPr lang="en-IN" dirty="0"/>
          </a:p>
          <a:p>
            <a:pPr marL="45720" indent="0">
              <a:buNone/>
            </a:pPr>
            <a:r>
              <a:rPr lang="en-US" dirty="0"/>
              <a:t>	Processor   		: Intel core i3</a:t>
            </a:r>
            <a:endParaRPr lang="en-IN" dirty="0"/>
          </a:p>
          <a:p>
            <a:pPr marL="45720" indent="0">
              <a:buNone/>
            </a:pPr>
            <a:r>
              <a:rPr lang="en-US" dirty="0"/>
              <a:t>	Hard disk   		: minimum 300 GB</a:t>
            </a:r>
            <a:endParaRPr lang="en-IN" dirty="0"/>
          </a:p>
          <a:p>
            <a:pPr marL="45720" indent="0">
              <a:buNone/>
            </a:pPr>
            <a:r>
              <a:rPr lang="en-US" dirty="0"/>
              <a:t>	RAM        		: minimum 4 GB</a:t>
            </a:r>
            <a:endParaRPr lang="en-IN" dirty="0"/>
          </a:p>
          <a:p>
            <a:pPr marL="45720" indent="0">
              <a:buNone/>
            </a:pPr>
            <a:endParaRPr lang="en-IN"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457200"/>
            <a:ext cx="7315200" cy="1066799"/>
          </a:xfrm>
        </p:spPr>
        <p:txBody>
          <a:bodyPr>
            <a:normAutofit/>
          </a:bodyPr>
          <a:lstStyle/>
          <a:p>
            <a:r>
              <a:rPr lang="en-IN" b="1" dirty="0"/>
              <a:t>INTRODUCTION:</a:t>
            </a:r>
            <a:endParaRPr lang="en-IN" dirty="0"/>
          </a:p>
        </p:txBody>
      </p:sp>
      <p:sp>
        <p:nvSpPr>
          <p:cNvPr id="3" name="Content Placeholder 2"/>
          <p:cNvSpPr>
            <a:spLocks noGrp="1"/>
          </p:cNvSpPr>
          <p:nvPr>
            <p:ph idx="1"/>
          </p:nvPr>
        </p:nvSpPr>
        <p:spPr>
          <a:xfrm>
            <a:off x="533400" y="1905001"/>
            <a:ext cx="8305800" cy="4952999"/>
          </a:xfrm>
        </p:spPr>
        <p:txBody>
          <a:bodyPr>
            <a:normAutofit fontScale="92500" lnSpcReduction="20000"/>
          </a:bodyPr>
          <a:lstStyle/>
          <a:p>
            <a:r>
              <a:rPr lang="en-IN" dirty="0"/>
              <a:t>In today’s fast-paced and digitally driven world, stress has become a common and serious health concern affecting individuals across all age groups. Prolonged exposure to stress can disrupt the natural coordination between the brain and the heart, leading to long-term physical and psychological disorders such as anxiety, depression, hypertension, and cardiovascular diseases. Traditionally, stress assessment relies on self-reported questionnaires or occasional medical checkups, which often fail to capture gradual physiological changes occurring during daily life.</a:t>
            </a:r>
            <a:endParaRPr lang="en-IN" dirty="0"/>
          </a:p>
          <a:p>
            <a:r>
              <a:rPr lang="en-IN" dirty="0"/>
              <a:t>Recent advancements in wearable sensor technology and machine learning have enabled continuous monitoring of physiological signals such as Heart Rate Variability (HRV) and brain electrical activity. While existing systems predominantly focus on HRV-based stress estimation, they often overlook the vital role of brain-heart coordination in accurately identifying stress levels. To overcome these limitations, </a:t>
            </a:r>
            <a:r>
              <a:rPr lang="en-IN" b="1" dirty="0" err="1"/>
              <a:t>NeurocardiaSync</a:t>
            </a:r>
            <a:r>
              <a:rPr lang="en-IN" dirty="0"/>
              <a:t> introduces an AI-powered approach that integrates heart and brain related parameters to deliver more reliable and personalized stress predictions. By leveraging machine learning techniques, the system aims to detect stress early and support preventive healthcare through real-time monitoring and intelligent analysis.</a:t>
            </a:r>
            <a:endParaRPr lang="en-IN"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381000"/>
            <a:ext cx="7315200" cy="1066799"/>
          </a:xfrm>
        </p:spPr>
        <p:txBody>
          <a:bodyPr/>
          <a:lstStyle/>
          <a:p>
            <a:r>
              <a:rPr lang="en-IN" b="1" dirty="0"/>
              <a:t>MACHINE LEARNING:</a:t>
            </a:r>
            <a:endParaRPr lang="en-IN" dirty="0"/>
          </a:p>
        </p:txBody>
      </p:sp>
      <p:sp>
        <p:nvSpPr>
          <p:cNvPr id="3" name="Content Placeholder 2"/>
          <p:cNvSpPr>
            <a:spLocks noGrp="1"/>
          </p:cNvSpPr>
          <p:nvPr>
            <p:ph idx="1"/>
          </p:nvPr>
        </p:nvSpPr>
        <p:spPr>
          <a:xfrm>
            <a:off x="685800" y="1828801"/>
            <a:ext cx="7924800" cy="4480560"/>
          </a:xfrm>
        </p:spPr>
        <p:txBody>
          <a:bodyPr>
            <a:noAutofit/>
          </a:bodyPr>
          <a:lstStyle/>
          <a:p>
            <a:pPr marL="320040" lvl="1" indent="0" algn="just">
              <a:buNone/>
            </a:pPr>
            <a:r>
              <a:rPr lang="en-IN" dirty="0">
                <a:latin typeface="Times New Roman" panose="02020603050405020304" pitchFamily="18" charset="0"/>
                <a:cs typeface="Times New Roman" panose="02020603050405020304" pitchFamily="18" charset="0"/>
              </a:rPr>
              <a:t>Machine learning is to predict the future from past data. Machine learning (ML) is a type of artificial intelligence (AI) that provides computers with the ability to learn without being explicitly programmed. Machine learning focuses on the development of Computer Programs that can change when exposed to new data and the basics of Machine Learning, implementation of a simple machine learning algorithm using python. Process of training and prediction involves use of specialized algorithms. It feed the training data to an algorithm, and the algorithm uses this training data to give predictions on a new test data. Machine learning can be roughly separated in to three categories. There are supervised learning, unsupervised learning and reinforcement learning. Supervised learning program is both given the input data and the corresponding </a:t>
            </a:r>
            <a:r>
              <a:rPr lang="en-IN" dirty="0" err="1">
                <a:latin typeface="Times New Roman" panose="02020603050405020304" pitchFamily="18" charset="0"/>
                <a:cs typeface="Times New Roman" panose="02020603050405020304" pitchFamily="18" charset="0"/>
              </a:rPr>
              <a:t>labeling</a:t>
            </a:r>
            <a:r>
              <a:rPr lang="en-IN" dirty="0">
                <a:latin typeface="Times New Roman" panose="02020603050405020304" pitchFamily="18" charset="0"/>
                <a:cs typeface="Times New Roman" panose="02020603050405020304" pitchFamily="18" charset="0"/>
              </a:rPr>
              <a:t> to learn data has to be </a:t>
            </a:r>
            <a:r>
              <a:rPr lang="en-IN" dirty="0" err="1">
                <a:latin typeface="Times New Roman" panose="02020603050405020304" pitchFamily="18" charset="0"/>
                <a:cs typeface="Times New Roman" panose="02020603050405020304" pitchFamily="18" charset="0"/>
              </a:rPr>
              <a:t>labeled</a:t>
            </a:r>
            <a:r>
              <a:rPr lang="en-IN" dirty="0">
                <a:latin typeface="Times New Roman" panose="02020603050405020304" pitchFamily="18" charset="0"/>
                <a:cs typeface="Times New Roman" panose="02020603050405020304" pitchFamily="18" charset="0"/>
              </a:rPr>
              <a:t> by a human being beforehand. Unsupervised learning is no labels. It provided to the learning algorithm. This algorithm has to figure out the clustering of the input data. Finally, Reinforcement learning dynamically interacts with its environment and it receives positive or negative feedback to improve its performance.</a:t>
            </a:r>
            <a:endParaRPr lang="en-IN"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609600"/>
            <a:ext cx="7315200" cy="1066799"/>
          </a:xfrm>
        </p:spPr>
        <p:txBody>
          <a:bodyPr/>
          <a:lstStyle/>
          <a:p>
            <a:r>
              <a:rPr lang="en-IN" b="1" dirty="0"/>
              <a:t>Preparing the Dataset :</a:t>
            </a:r>
            <a:endParaRPr lang="en-IN" sz="3200" dirty="0"/>
          </a:p>
        </p:txBody>
      </p:sp>
      <p:sp>
        <p:nvSpPr>
          <p:cNvPr id="3" name="Content Placeholder 2"/>
          <p:cNvSpPr>
            <a:spLocks noGrp="1"/>
          </p:cNvSpPr>
          <p:nvPr>
            <p:ph idx="1"/>
          </p:nvPr>
        </p:nvSpPr>
        <p:spPr>
          <a:xfrm>
            <a:off x="990600" y="2377440"/>
            <a:ext cx="7315200" cy="4480560"/>
          </a:xfrm>
        </p:spPr>
        <p:txBody>
          <a:bodyPr>
            <a:noAutofit/>
          </a:bodyPr>
          <a:lstStyle/>
          <a:p>
            <a:pPr fontAlgn="base"/>
            <a:r>
              <a:rPr lang="en-US" dirty="0"/>
              <a:t>This dataset contains number of records of features extracted from patients, which were then used to find the heart attack from the patient.</a:t>
            </a:r>
            <a:endParaRPr lang="en-IN"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400" y="609601"/>
            <a:ext cx="7315200" cy="838199"/>
          </a:xfrm>
        </p:spPr>
        <p:txBody>
          <a:bodyPr>
            <a:normAutofit/>
          </a:bodyPr>
          <a:lstStyle/>
          <a:p>
            <a:r>
              <a:rPr lang="en-IN" b="1" dirty="0"/>
              <a:t>Literature survey:</a:t>
            </a:r>
            <a:endParaRPr lang="en-IN" dirty="0"/>
          </a:p>
        </p:txBody>
      </p:sp>
      <p:sp>
        <p:nvSpPr>
          <p:cNvPr id="3" name="Content Placeholder 2"/>
          <p:cNvSpPr>
            <a:spLocks noGrp="1"/>
          </p:cNvSpPr>
          <p:nvPr>
            <p:ph idx="1"/>
          </p:nvPr>
        </p:nvSpPr>
        <p:spPr>
          <a:xfrm>
            <a:off x="914400" y="1600201"/>
            <a:ext cx="7315200" cy="4709160"/>
          </a:xfrm>
        </p:spPr>
        <p:txBody>
          <a:bodyPr/>
          <a:lstStyle/>
          <a:p>
            <a:pPr marL="0" indent="0">
              <a:buNone/>
            </a:pPr>
            <a:r>
              <a:rPr lang="en-IN" b="1" dirty="0"/>
              <a:t>General</a:t>
            </a:r>
            <a:endParaRPr lang="en-IN" dirty="0"/>
          </a:p>
          <a:p>
            <a:r>
              <a:rPr lang="en-IN" dirty="0"/>
              <a:t>A literature review is a body of text that aims to review the critical points of current knowledge on and/or methodological approaches to a particular topic. </a:t>
            </a:r>
            <a:endParaRPr lang="en-IN" dirty="0"/>
          </a:p>
          <a:p>
            <a:r>
              <a:rPr lang="en-IN" dirty="0"/>
              <a:t>It is secondary sources and discuss published information in a particular subject area and sometimes information in a particular subject area within a certain time period.</a:t>
            </a:r>
            <a:endParaRPr lang="en-IN" dirty="0"/>
          </a:p>
          <a:p>
            <a:r>
              <a:rPr lang="en-IN" dirty="0"/>
              <a:t> Its ultimate goal is to bring the reader up to date with current literature on a topic and forms the basis for another goal, such as future research that may be needed in the area and precedes a research proposal and may be just a simple summary of sources. Usually, it has an organizational pattern and combines both summary and synthesis. </a:t>
            </a:r>
            <a:endParaRPr lang="en-IN" dirty="0"/>
          </a:p>
          <a:p>
            <a:pPr marL="0" indent="0">
              <a:buNone/>
            </a:pPr>
            <a:endParaRPr lang="en-IN" dirty="0"/>
          </a:p>
          <a:p>
            <a:endParaRPr lang="en-IN"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1981200"/>
            <a:ext cx="7848600" cy="4572000"/>
          </a:xfrm>
        </p:spPr>
        <p:txBody>
          <a:bodyPr>
            <a:noAutofit/>
          </a:bodyPr>
          <a:lstStyle/>
          <a:p>
            <a:r>
              <a:rPr lang="en-IN" sz="1400" b="1" dirty="0"/>
              <a:t>Title	 : </a:t>
            </a:r>
            <a:r>
              <a:rPr lang="en-IN" sz="1400" dirty="0"/>
              <a:t>AI-Driven Stress Monitoring for Older Adults: A Wearable IOT Solution.</a:t>
            </a:r>
            <a:endParaRPr lang="en-IN" sz="1400" dirty="0"/>
          </a:p>
          <a:p>
            <a:r>
              <a:rPr lang="en-IN" sz="1400" b="1" dirty="0"/>
              <a:t>Author:</a:t>
            </a:r>
            <a:r>
              <a:rPr lang="en-IN" sz="1400" dirty="0"/>
              <a:t> Komal Mishra , Gaurav Bhushan, Amit Kumar Ahuja.</a:t>
            </a:r>
            <a:endParaRPr lang="en-IN" sz="1400" dirty="0"/>
          </a:p>
          <a:p>
            <a:r>
              <a:rPr lang="en-IN" sz="1400" b="1" dirty="0"/>
              <a:t>Year	 : </a:t>
            </a:r>
            <a:r>
              <a:rPr lang="en-IN" sz="1400" dirty="0"/>
              <a:t>2021</a:t>
            </a:r>
            <a:endParaRPr lang="en-IN" sz="1400" dirty="0"/>
          </a:p>
          <a:p>
            <a:r>
              <a:rPr lang="en-IN" sz="1400" dirty="0"/>
              <a:t>Stress is a state of increased physical and psychological tension that can significantly affect an individual’s health and well-being. Various physiological, psychological, environmental, and emotional factors contribute to stress, and poor management can lead to serious health consequences. If not addressed well on time, stress may lead to different neurological disorders which can be detrimental to human health. This paper reviews existing research on stress detection and reduction, examining different methodologies and technologies in the field. Despite advances in stress monitoring solutions, most studies focus on younger populations, workplace settings, or general healthcare, with limited attention to elderly individuals in residential care. To address this gap, this paper proposes an IoT (Internet of Things)-enabled wearable wristband designed for the unique needs of elderly residents in care facilities. The device integrates multiple physiological sensors, including Galvanic Skin Response (GSR), skin temperature, Heart Rate Variability (HRV), accelerometer, and gyroscopic sensors, for real-time stress detection using an adaptive fuzzy logic algorithm. Unlike conventional methods, this system offers personalized interventions such as guided relaxation, breathing exercises, music therapy, and light physical activities, tailored to the user’s real-time physiological state.</a:t>
            </a:r>
            <a:endParaRPr lang="en-IN" sz="1400" dirty="0"/>
          </a:p>
        </p:txBody>
      </p:sp>
      <p:sp>
        <p:nvSpPr>
          <p:cNvPr id="4" name="Title 1"/>
          <p:cNvSpPr>
            <a:spLocks noGrp="1"/>
          </p:cNvSpPr>
          <p:nvPr>
            <p:ph type="title"/>
          </p:nvPr>
        </p:nvSpPr>
        <p:spPr>
          <a:xfrm>
            <a:off x="685800" y="457200"/>
            <a:ext cx="7315200" cy="1154097"/>
          </a:xfrm>
        </p:spPr>
        <p:txBody>
          <a:bodyPr/>
          <a:lstStyle/>
          <a:p>
            <a:r>
              <a:rPr lang="en-IN" b="1" dirty="0"/>
              <a:t>Literature survey:</a:t>
            </a:r>
            <a:endParaRPr lang="en-IN"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1981200"/>
            <a:ext cx="7239000" cy="4114800"/>
          </a:xfrm>
        </p:spPr>
        <p:txBody>
          <a:bodyPr>
            <a:noAutofit/>
          </a:bodyPr>
          <a:lstStyle/>
          <a:p>
            <a:r>
              <a:rPr lang="en-IN" sz="1400" b="1" dirty="0"/>
              <a:t>Title	: </a:t>
            </a:r>
            <a:r>
              <a:rPr lang="en-IN" sz="1400" dirty="0"/>
              <a:t>Mental Stress Detection In Real Time Using Wearable Sensors And Machine Learning.</a:t>
            </a:r>
            <a:endParaRPr lang="en-IN" sz="1400" dirty="0"/>
          </a:p>
          <a:p>
            <a:r>
              <a:rPr lang="en-IN" sz="1400" b="1" dirty="0"/>
              <a:t>Author:</a:t>
            </a:r>
            <a:r>
              <a:rPr lang="en-IN" sz="1400" dirty="0"/>
              <a:t> MUVVA VENKATESWARA RAO , GORU SONIYA</a:t>
            </a:r>
            <a:endParaRPr lang="en-IN" sz="1400" dirty="0"/>
          </a:p>
          <a:p>
            <a:r>
              <a:rPr lang="en-IN" sz="1400" b="1" dirty="0"/>
              <a:t>Year : </a:t>
            </a:r>
            <a:r>
              <a:rPr lang="en-IN" sz="1400" dirty="0"/>
              <a:t>2023</a:t>
            </a:r>
            <a:endParaRPr lang="en-IN" sz="1400" dirty="0"/>
          </a:p>
          <a:p>
            <a:r>
              <a:rPr lang="en-IN" sz="1400" dirty="0"/>
              <a:t>When we encounter difficult or taxing circumstances, or stressors, our bodies and minds go into a hyperarousal state, commonly known as stress. Chronic illnesses including anxiety, depression, and cardiovascular disease can develop in people who are exposed to various stressors for an extended period of time, particularly when these stressors happen at the same time. In order to avoid these long-term impacts, it is essential to recognise stress early on, and continuous monitoring provides a viable option. One possibility for personal stress monitoring is the use of wearable devices that can gather data continuously and in real-time, allowing users to keep tabs on their stress levels as the day progresses. This study provides an extensive analysis of several approaches to stress detection that make use of wearable sensors in conjunction with machine learning methodologies. Wearable sensors including electrocardiograms (ECGs), electroencephalograms (EEGs), and photoplethysmography (PPGs) are reviewed, along with the many settings when stress is tracked, such as while driving, learning, or working. </a:t>
            </a:r>
            <a:endParaRPr lang="en-IN" sz="1400" dirty="0"/>
          </a:p>
        </p:txBody>
      </p:sp>
      <p:sp>
        <p:nvSpPr>
          <p:cNvPr id="4" name="Title 1"/>
          <p:cNvSpPr>
            <a:spLocks noGrp="1"/>
          </p:cNvSpPr>
          <p:nvPr>
            <p:ph type="title"/>
          </p:nvPr>
        </p:nvSpPr>
        <p:spPr>
          <a:xfrm>
            <a:off x="685800" y="457200"/>
            <a:ext cx="7315200" cy="1154097"/>
          </a:xfrm>
        </p:spPr>
        <p:txBody>
          <a:bodyPr/>
          <a:lstStyle/>
          <a:p>
            <a:r>
              <a:rPr lang="en-IN" b="1" dirty="0"/>
              <a:t>Literature survey:</a:t>
            </a:r>
            <a:endParaRPr lang="en-IN"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762000"/>
            <a:ext cx="7315200" cy="761999"/>
          </a:xfrm>
        </p:spPr>
        <p:txBody>
          <a:bodyPr/>
          <a:lstStyle/>
          <a:p>
            <a:r>
              <a:rPr lang="en-IN" b="1" dirty="0"/>
              <a:t>Objectives:</a:t>
            </a:r>
            <a:endParaRPr lang="en-IN" dirty="0"/>
          </a:p>
        </p:txBody>
      </p:sp>
      <p:sp>
        <p:nvSpPr>
          <p:cNvPr id="3" name="Content Placeholder 2"/>
          <p:cNvSpPr>
            <a:spLocks noGrp="1"/>
          </p:cNvSpPr>
          <p:nvPr>
            <p:ph idx="1"/>
          </p:nvPr>
        </p:nvSpPr>
        <p:spPr>
          <a:xfrm>
            <a:off x="921774" y="1949736"/>
            <a:ext cx="7315200" cy="4937761"/>
          </a:xfrm>
        </p:spPr>
        <p:txBody>
          <a:bodyPr>
            <a:noAutofit/>
          </a:bodyPr>
          <a:lstStyle/>
          <a:p>
            <a:pPr lvl="0"/>
            <a:r>
              <a:rPr lang="en-IN" b="1" i="1" dirty="0"/>
              <a:t>To collect and </a:t>
            </a:r>
            <a:r>
              <a:rPr lang="en-IN" b="1" i="1" dirty="0" err="1"/>
              <a:t>analyze</a:t>
            </a:r>
            <a:r>
              <a:rPr lang="en-IN" b="1" i="1" dirty="0"/>
              <a:t> heart-related (HRV from ECG/PPG) and brain-related (EEG) physiological data.</a:t>
            </a:r>
            <a:endParaRPr lang="en-IN" b="1" i="1" dirty="0"/>
          </a:p>
          <a:p>
            <a:pPr lvl="0"/>
            <a:r>
              <a:rPr lang="en-IN" b="1" i="1" dirty="0"/>
              <a:t>To extract meaningful features from cardiac and neural signals using advanced signal processing techniques.</a:t>
            </a:r>
            <a:endParaRPr lang="en-IN" b="1" i="1" dirty="0"/>
          </a:p>
          <a:p>
            <a:pPr lvl="0"/>
            <a:r>
              <a:rPr lang="en-IN" b="1" i="1" dirty="0"/>
              <a:t>To build and train machine learning models for accurate classification of stress levels (low, medium, high).</a:t>
            </a:r>
            <a:endParaRPr lang="en-IN" b="1" i="1" dirty="0"/>
          </a:p>
          <a:p>
            <a:pPr lvl="0"/>
            <a:r>
              <a:rPr lang="en-IN" b="1" i="1" dirty="0"/>
              <a:t>To integrate multi-modal physiological data for improved stress prediction accuracy.</a:t>
            </a:r>
            <a:endParaRPr lang="en-IN" b="1" i="1" dirty="0"/>
          </a:p>
          <a:p>
            <a:pPr lvl="0"/>
            <a:r>
              <a:rPr lang="en-IN" b="1" i="1" dirty="0"/>
              <a:t>To provide real-time monitoring and visual insights for better understanding of stress patterns.</a:t>
            </a:r>
            <a:endParaRPr lang="en-IN" b="1" i="1" dirty="0"/>
          </a:p>
          <a:p>
            <a:pPr lvl="0"/>
            <a:r>
              <a:rPr lang="en-IN" b="1" i="1" dirty="0"/>
              <a:t>To support early intervention and preventive healthcare through intelligent stress analytics.</a:t>
            </a:r>
            <a:endParaRPr lang="en-IN" b="1" i="1"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0"/>
            <a:ext cx="7315200" cy="609599"/>
          </a:xfrm>
        </p:spPr>
        <p:txBody>
          <a:bodyPr>
            <a:normAutofit fontScale="90000"/>
          </a:bodyPr>
          <a:lstStyle/>
          <a:p>
            <a:r>
              <a:rPr lang="en-IN" b="1" dirty="0"/>
              <a:t>Scope of the Project</a:t>
            </a:r>
            <a:r>
              <a:rPr lang="en-IN" dirty="0"/>
              <a:t>:</a:t>
            </a:r>
            <a:endParaRPr lang="en-IN" dirty="0"/>
          </a:p>
        </p:txBody>
      </p:sp>
      <p:sp>
        <p:nvSpPr>
          <p:cNvPr id="3" name="Content Placeholder 2"/>
          <p:cNvSpPr>
            <a:spLocks noGrp="1"/>
          </p:cNvSpPr>
          <p:nvPr>
            <p:ph idx="1"/>
          </p:nvPr>
        </p:nvSpPr>
        <p:spPr>
          <a:xfrm>
            <a:off x="685800" y="1828800"/>
            <a:ext cx="7543800" cy="4632960"/>
          </a:xfrm>
        </p:spPr>
        <p:txBody>
          <a:bodyPr/>
          <a:lstStyle/>
          <a:p>
            <a:r>
              <a:rPr lang="en-IN" dirty="0"/>
              <a:t>The scope of this project focuses on the development of an AI-based stress prediction system that utilizes both cardiovascular and neurological parameters. The system is designed to process real-time physiological data collected from wearable sensors and apply machine learning models for stress level classification. </a:t>
            </a:r>
            <a:r>
              <a:rPr lang="en-IN" dirty="0" err="1"/>
              <a:t>NeurocardiaSync</a:t>
            </a:r>
            <a:r>
              <a:rPr lang="en-IN" dirty="0"/>
              <a:t> can be extended for use in healthcare monitoring, workplace stress management, mental health assessment, and wellness applications. The framework is scalable and can be enhanced in the future by incorporating additional </a:t>
            </a:r>
            <a:r>
              <a:rPr lang="en-IN" dirty="0" err="1"/>
              <a:t>biosignals</a:t>
            </a:r>
            <a:r>
              <a:rPr lang="en-IN" dirty="0"/>
              <a:t>, cloud-based analytics, mobile integration, and personalized feedback systems. However, the current scope is limited to software-based stress prediction and does not include clinical diagnosis or medical treatment.</a:t>
            </a:r>
            <a:endParaRPr lang="en-IN"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685800"/>
            <a:ext cx="7315200" cy="1066799"/>
          </a:xfrm>
        </p:spPr>
        <p:txBody>
          <a:bodyPr/>
          <a:lstStyle/>
          <a:p>
            <a:r>
              <a:rPr lang="en-IN" b="1" dirty="0"/>
              <a:t>List of Modules:</a:t>
            </a:r>
            <a:endParaRPr lang="en-IN" dirty="0"/>
          </a:p>
        </p:txBody>
      </p:sp>
      <p:sp>
        <p:nvSpPr>
          <p:cNvPr id="3" name="Content Placeholder 2"/>
          <p:cNvSpPr>
            <a:spLocks noGrp="1"/>
          </p:cNvSpPr>
          <p:nvPr>
            <p:ph idx="1"/>
          </p:nvPr>
        </p:nvSpPr>
        <p:spPr>
          <a:xfrm>
            <a:off x="931606" y="2377440"/>
            <a:ext cx="7315200" cy="4480560"/>
          </a:xfrm>
        </p:spPr>
        <p:txBody>
          <a:bodyPr>
            <a:normAutofit/>
          </a:bodyPr>
          <a:lstStyle/>
          <a:p>
            <a:pPr lvl="0"/>
            <a:r>
              <a:rPr lang="en-IN" dirty="0"/>
              <a:t>Data Pre-processing</a:t>
            </a:r>
            <a:endParaRPr lang="en-IN" dirty="0"/>
          </a:p>
          <a:p>
            <a:pPr lvl="0"/>
            <a:r>
              <a:rPr lang="en-IN" dirty="0"/>
              <a:t>Data Analysis of Visualization</a:t>
            </a:r>
            <a:endParaRPr lang="en-IN" dirty="0"/>
          </a:p>
          <a:p>
            <a:pPr lvl="0"/>
            <a:r>
              <a:rPr lang="en-IN" dirty="0"/>
              <a:t>Bagging Algorithm  </a:t>
            </a:r>
            <a:endParaRPr lang="en-IN" dirty="0"/>
          </a:p>
          <a:p>
            <a:pPr lvl="0"/>
            <a:r>
              <a:rPr lang="en-IN" dirty="0"/>
              <a:t>MLP algorithm</a:t>
            </a:r>
            <a:endParaRPr lang="en-IN" dirty="0"/>
          </a:p>
          <a:p>
            <a:pPr lvl="0"/>
            <a:r>
              <a:rPr lang="en-IN" dirty="0"/>
              <a:t>Deployment </a:t>
            </a:r>
            <a:endParaRPr lang="en-IN"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400" y="609601"/>
            <a:ext cx="7315200" cy="1066799"/>
          </a:xfrm>
        </p:spPr>
        <p:txBody>
          <a:bodyPr/>
          <a:lstStyle/>
          <a:p>
            <a:r>
              <a:rPr lang="en-US" b="1" dirty="0"/>
              <a:t>PYTHON:</a:t>
            </a:r>
            <a:endParaRPr lang="en-IN" dirty="0"/>
          </a:p>
        </p:txBody>
      </p:sp>
      <p:sp>
        <p:nvSpPr>
          <p:cNvPr id="3" name="Content Placeholder 2"/>
          <p:cNvSpPr>
            <a:spLocks noGrp="1"/>
          </p:cNvSpPr>
          <p:nvPr>
            <p:ph idx="1"/>
          </p:nvPr>
        </p:nvSpPr>
        <p:spPr>
          <a:xfrm>
            <a:off x="914400" y="1828801"/>
            <a:ext cx="7315200" cy="4480560"/>
          </a:xfrm>
        </p:spPr>
        <p:txBody>
          <a:bodyPr>
            <a:normAutofit/>
          </a:bodyPr>
          <a:lstStyle/>
          <a:p>
            <a:pPr marL="0" indent="0">
              <a:buNone/>
            </a:pPr>
            <a:r>
              <a:rPr lang="en-US" b="1" dirty="0"/>
              <a:t>Introduction:</a:t>
            </a:r>
            <a:endParaRPr lang="en-IN" dirty="0"/>
          </a:p>
          <a:p>
            <a:pPr marL="0" indent="0">
              <a:buNone/>
            </a:pPr>
            <a:r>
              <a:rPr lang="en-US" dirty="0"/>
              <a:t>Python is an interpreted high-level general-purpose programming language. Its design philosophy emphasizes code readability with its use of significant indentation. Its language constructs as well as its object-oriented approach aim to help programmers write clear, logical code for small and large-scale projects.</a:t>
            </a:r>
            <a:endParaRPr lang="en-IN"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400" y="609601"/>
            <a:ext cx="7315200" cy="1066799"/>
          </a:xfrm>
        </p:spPr>
        <p:txBody>
          <a:bodyPr/>
          <a:lstStyle/>
          <a:p>
            <a:r>
              <a:rPr lang="en-IN" b="1" dirty="0"/>
              <a:t>System Architecture :</a:t>
            </a:r>
            <a:endParaRPr lang="en-IN" dirty="0"/>
          </a:p>
        </p:txBody>
      </p:sp>
      <p:pic>
        <p:nvPicPr>
          <p:cNvPr id="6" name="Picture 5" descr="C:\Users\SPIRO25\Downloads\heart.png"/>
          <p:cNvPicPr/>
          <p:nvPr/>
        </p:nvPicPr>
        <p:blipFill>
          <a:blip r:embed="rId1">
            <a:extLst>
              <a:ext uri="{28A0092B-C50C-407E-A947-70E740481C1C}">
                <a14:useLocalDpi xmlns:a14="http://schemas.microsoft.com/office/drawing/2010/main" val="0"/>
              </a:ext>
            </a:extLst>
          </a:blip>
          <a:srcRect/>
          <a:stretch>
            <a:fillRect/>
          </a:stretch>
        </p:blipFill>
        <p:spPr bwMode="auto">
          <a:xfrm>
            <a:off x="1706245" y="2057400"/>
            <a:ext cx="5731510" cy="449580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400" y="609601"/>
            <a:ext cx="7315200" cy="1066799"/>
          </a:xfrm>
        </p:spPr>
        <p:txBody>
          <a:bodyPr/>
          <a:lstStyle/>
          <a:p>
            <a:r>
              <a:rPr lang="en-IN" b="1" dirty="0"/>
              <a:t>Use Case Diagram:</a:t>
            </a:r>
            <a:endParaRPr lang="en-IN" dirty="0"/>
          </a:p>
        </p:txBody>
      </p:sp>
      <p:pic>
        <p:nvPicPr>
          <p:cNvPr id="6" name="Picture 5"/>
          <p:cNvPicPr/>
          <p:nvPr/>
        </p:nvPicPr>
        <p:blipFill>
          <a:blip r:embed="rId1"/>
          <a:stretch>
            <a:fillRect/>
          </a:stretch>
        </p:blipFill>
        <p:spPr>
          <a:xfrm>
            <a:off x="1941830" y="2394585"/>
            <a:ext cx="5260340" cy="3914775"/>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400" y="609601"/>
            <a:ext cx="7315200" cy="1066799"/>
          </a:xfrm>
        </p:spPr>
        <p:txBody>
          <a:bodyPr/>
          <a:lstStyle/>
          <a:p>
            <a:r>
              <a:rPr lang="en-IN" b="1" dirty="0"/>
              <a:t>Class Diagram :</a:t>
            </a:r>
            <a:endParaRPr lang="en-IN" dirty="0"/>
          </a:p>
        </p:txBody>
      </p:sp>
      <p:pic>
        <p:nvPicPr>
          <p:cNvPr id="5" name="Picture 4"/>
          <p:cNvPicPr/>
          <p:nvPr/>
        </p:nvPicPr>
        <p:blipFill>
          <a:blip r:embed="rId1"/>
          <a:stretch>
            <a:fillRect/>
          </a:stretch>
        </p:blipFill>
        <p:spPr>
          <a:xfrm>
            <a:off x="1995170" y="2188136"/>
            <a:ext cx="5153660" cy="4219575"/>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400" y="609601"/>
            <a:ext cx="7315200" cy="1066799"/>
          </a:xfrm>
        </p:spPr>
        <p:txBody>
          <a:bodyPr/>
          <a:lstStyle/>
          <a:p>
            <a:r>
              <a:rPr lang="en-IN" sz="2800" b="1" dirty="0"/>
              <a:t>Module description:</a:t>
            </a:r>
            <a:endParaRPr lang="en-IN" sz="2800" dirty="0"/>
          </a:p>
        </p:txBody>
      </p:sp>
      <p:sp>
        <p:nvSpPr>
          <p:cNvPr id="3" name="Content Placeholder 2"/>
          <p:cNvSpPr>
            <a:spLocks noGrp="1"/>
          </p:cNvSpPr>
          <p:nvPr>
            <p:ph idx="1"/>
          </p:nvPr>
        </p:nvSpPr>
        <p:spPr>
          <a:xfrm>
            <a:off x="914400" y="1676401"/>
            <a:ext cx="7315200" cy="4632960"/>
          </a:xfrm>
        </p:spPr>
        <p:txBody>
          <a:bodyPr>
            <a:normAutofit/>
          </a:bodyPr>
          <a:lstStyle/>
          <a:p>
            <a:pPr marL="0" indent="0">
              <a:buNone/>
            </a:pPr>
            <a:r>
              <a:rPr lang="en-IN" b="1" dirty="0"/>
              <a:t>Data Pre-processing</a:t>
            </a:r>
            <a:endParaRPr lang="en-IN" dirty="0"/>
          </a:p>
          <a:p>
            <a:r>
              <a:rPr lang="en-IN" dirty="0"/>
              <a:t>Validation techniques in machine learning are used to get the error rate of the Machine Learning (ML) model, which can be considered as close to the true error rate of the dataset. </a:t>
            </a:r>
            <a:endParaRPr lang="en-IN" dirty="0"/>
          </a:p>
          <a:p>
            <a:r>
              <a:rPr lang="en-IN" dirty="0"/>
              <a:t>If the data volume is large enough to be representative of the population, you may not need the validation techniques. However, in real-world scenarios, to work with samples of data that may not be a true representative of the population of given dataset. To finding the missing value, duplicate value and description of data type whether it is float variable or integer. </a:t>
            </a:r>
            <a:endParaRPr lang="en-IN" dirty="0"/>
          </a:p>
          <a:p>
            <a:r>
              <a:rPr lang="en-IN" dirty="0"/>
              <a:t>The sample of data used to provide an unbiased evaluation of a model fit on the training dataset while tuning model hyper parameters.</a:t>
            </a:r>
            <a:endParaRPr lang="en-IN" dirty="0"/>
          </a:p>
          <a:p>
            <a:pPr marL="0" indent="0">
              <a:buNone/>
            </a:pPr>
            <a:endParaRPr lang="en-IN" dirty="0"/>
          </a:p>
          <a:p>
            <a:endParaRPr lang="en-IN"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400" y="609601"/>
            <a:ext cx="7315200" cy="1066799"/>
          </a:xfrm>
        </p:spPr>
        <p:txBody>
          <a:bodyPr/>
          <a:lstStyle/>
          <a:p>
            <a:r>
              <a:rPr lang="en-IN" sz="2800" b="1" dirty="0"/>
              <a:t>Data Validation/ Cleaning/Preparing Process:</a:t>
            </a:r>
            <a:endParaRPr lang="en-IN" sz="2800" dirty="0"/>
          </a:p>
        </p:txBody>
      </p:sp>
      <p:sp>
        <p:nvSpPr>
          <p:cNvPr id="3" name="Content Placeholder 2"/>
          <p:cNvSpPr>
            <a:spLocks noGrp="1"/>
          </p:cNvSpPr>
          <p:nvPr>
            <p:ph idx="1"/>
          </p:nvPr>
        </p:nvSpPr>
        <p:spPr>
          <a:xfrm>
            <a:off x="914400" y="1676401"/>
            <a:ext cx="7315200" cy="4632960"/>
          </a:xfrm>
        </p:spPr>
        <p:txBody>
          <a:bodyPr>
            <a:normAutofit/>
          </a:bodyPr>
          <a:lstStyle/>
          <a:p>
            <a:r>
              <a:rPr lang="en-IN" dirty="0"/>
              <a:t>Importing the library packages with loading given dataset. To </a:t>
            </a:r>
            <a:r>
              <a:rPr lang="en-IN" dirty="0" err="1"/>
              <a:t>analyzing</a:t>
            </a:r>
            <a:r>
              <a:rPr lang="en-IN" dirty="0"/>
              <a:t> the variable identification by data shape, data type and evaluating the missing values, duplicate values. </a:t>
            </a:r>
            <a:endParaRPr lang="en-IN" dirty="0"/>
          </a:p>
          <a:p>
            <a:r>
              <a:rPr lang="en-IN" dirty="0"/>
              <a:t>A validation dataset is a sample of data held back from training your model that is used to give an estimate of model skill while tuning model's and procedures that you can use to make the best use of validation and test datasets when evaluating your models. </a:t>
            </a:r>
            <a:endParaRPr lang="en-IN" dirty="0"/>
          </a:p>
          <a:p>
            <a:r>
              <a:rPr lang="en-IN" dirty="0"/>
              <a:t>Data cleaning / preparing by rename the given dataset and drop the column </a:t>
            </a:r>
            <a:r>
              <a:rPr lang="en-IN" dirty="0" err="1"/>
              <a:t>etc</a:t>
            </a:r>
            <a:endParaRPr lang="en-IN"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400" y="609601"/>
            <a:ext cx="7315200" cy="1066799"/>
          </a:xfrm>
        </p:spPr>
        <p:txBody>
          <a:bodyPr/>
          <a:lstStyle/>
          <a:p>
            <a:r>
              <a:rPr lang="en-IN" sz="2800" b="1" dirty="0"/>
              <a:t>Exploration data analysis of visualization</a:t>
            </a:r>
            <a:endParaRPr lang="en-IN" sz="2800" dirty="0"/>
          </a:p>
        </p:txBody>
      </p:sp>
      <p:sp>
        <p:nvSpPr>
          <p:cNvPr id="3" name="Content Placeholder 2"/>
          <p:cNvSpPr>
            <a:spLocks noGrp="1"/>
          </p:cNvSpPr>
          <p:nvPr>
            <p:ph idx="1"/>
          </p:nvPr>
        </p:nvSpPr>
        <p:spPr>
          <a:xfrm>
            <a:off x="914400" y="1676401"/>
            <a:ext cx="7315200" cy="4632960"/>
          </a:xfrm>
        </p:spPr>
        <p:txBody>
          <a:bodyPr/>
          <a:lstStyle/>
          <a:p>
            <a:r>
              <a:rPr lang="en-IN" dirty="0"/>
              <a:t>Data visualization is an important skill in applied statistics and machine learning. </a:t>
            </a:r>
            <a:endParaRPr lang="en-IN" dirty="0"/>
          </a:p>
          <a:p>
            <a:r>
              <a:rPr lang="en-IN" dirty="0"/>
              <a:t>Statistics does indeed focus on quantitative descriptions and estimations of data. </a:t>
            </a:r>
            <a:endParaRPr lang="en-IN" dirty="0"/>
          </a:p>
          <a:p>
            <a:r>
              <a:rPr lang="en-IN" dirty="0"/>
              <a:t>Data visualization provides an important suite of tools for gaining a qualitative understanding. </a:t>
            </a:r>
            <a:endParaRPr lang="en-IN" dirty="0"/>
          </a:p>
          <a:p>
            <a:r>
              <a:rPr lang="en-IN" dirty="0"/>
              <a:t>This can be helpful when exploring and getting to know a dataset and can help with identifying patterns, corrupt data, outliers, and much more. </a:t>
            </a:r>
            <a:endParaRPr lang="en-IN"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400" y="609601"/>
            <a:ext cx="7315200" cy="1066799"/>
          </a:xfrm>
        </p:spPr>
        <p:txBody>
          <a:bodyPr/>
          <a:lstStyle/>
          <a:p>
            <a:r>
              <a:rPr lang="en-IN" sz="2800" b="1" dirty="0"/>
              <a:t>Comparing Algorithm with prediction in the form of best accuracy result:</a:t>
            </a:r>
            <a:endParaRPr lang="en-IN" sz="2800" dirty="0"/>
          </a:p>
        </p:txBody>
      </p:sp>
      <p:sp>
        <p:nvSpPr>
          <p:cNvPr id="3" name="Content Placeholder 2"/>
          <p:cNvSpPr>
            <a:spLocks noGrp="1"/>
          </p:cNvSpPr>
          <p:nvPr>
            <p:ph idx="1"/>
          </p:nvPr>
        </p:nvSpPr>
        <p:spPr>
          <a:xfrm>
            <a:off x="914400" y="1676401"/>
            <a:ext cx="7315200" cy="4632960"/>
          </a:xfrm>
        </p:spPr>
        <p:txBody>
          <a:bodyPr/>
          <a:lstStyle/>
          <a:p>
            <a:r>
              <a:rPr lang="en-IN" dirty="0"/>
              <a:t>It is important to compare the performance of multiple different machine learning algorithms consistently and it will discover to create a test harness to compare multiple different machine learning algorithms in Python with </a:t>
            </a:r>
            <a:r>
              <a:rPr lang="en-IN" dirty="0" err="1"/>
              <a:t>scikit</a:t>
            </a:r>
            <a:r>
              <a:rPr lang="en-IN" dirty="0"/>
              <a:t>-learn. </a:t>
            </a:r>
            <a:endParaRPr lang="en-IN" dirty="0"/>
          </a:p>
          <a:p>
            <a:r>
              <a:rPr lang="en-IN" dirty="0"/>
              <a:t>It can use this test harness as a template on your own machine learning problems and add more and different algorithms to compare. </a:t>
            </a:r>
            <a:endParaRPr lang="en-IN" dirty="0"/>
          </a:p>
          <a:p>
            <a:r>
              <a:rPr lang="en-IN" dirty="0"/>
              <a:t>Each model will have different performance characteristics. Using resampling methods like cross validation, you can get an estimate for how accurate each model may be on unseen data.</a:t>
            </a:r>
            <a:endParaRPr lang="en-IN"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400" y="609601"/>
            <a:ext cx="7315200" cy="1066799"/>
          </a:xfrm>
        </p:spPr>
        <p:txBody>
          <a:bodyPr/>
          <a:lstStyle/>
          <a:p>
            <a:r>
              <a:rPr lang="en-IN" b="1" dirty="0"/>
              <a:t>Algorithm Explanation:</a:t>
            </a:r>
            <a:endParaRPr lang="en-IN" dirty="0"/>
          </a:p>
        </p:txBody>
      </p:sp>
      <p:sp>
        <p:nvSpPr>
          <p:cNvPr id="3" name="Content Placeholder 2"/>
          <p:cNvSpPr>
            <a:spLocks noGrp="1"/>
          </p:cNvSpPr>
          <p:nvPr>
            <p:ph idx="1"/>
          </p:nvPr>
        </p:nvSpPr>
        <p:spPr>
          <a:xfrm>
            <a:off x="914400" y="1828801"/>
            <a:ext cx="7315200" cy="4480560"/>
          </a:xfrm>
        </p:spPr>
        <p:txBody>
          <a:bodyPr>
            <a:normAutofit/>
          </a:bodyPr>
          <a:lstStyle/>
          <a:p>
            <a:r>
              <a:rPr lang="en-IN" dirty="0"/>
              <a:t>In machine learning and statistics, classification is a supervised learning approach in which the computer program learns from the data input given to it and then uses this learning to classify new observation. </a:t>
            </a:r>
            <a:endParaRPr lang="en-IN" dirty="0"/>
          </a:p>
          <a:p>
            <a:r>
              <a:rPr lang="en-IN" dirty="0"/>
              <a:t>This data set may simply be bi-class (like identifying whether the person is male or female or that the mail is spam or non-spam) or it may be multi-class too. </a:t>
            </a:r>
            <a:endParaRPr lang="en-IN" dirty="0"/>
          </a:p>
          <a:p>
            <a:r>
              <a:rPr lang="en-IN" dirty="0"/>
              <a:t>Some examples of classification problems are: speech recognition, handwriting recognition, bio metric identification, document classification </a:t>
            </a:r>
            <a:r>
              <a:rPr lang="en-IN" dirty="0" err="1"/>
              <a:t>etc</a:t>
            </a:r>
            <a:endParaRPr lang="en-IN"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0"/>
            <a:ext cx="7315200" cy="1154097"/>
          </a:xfrm>
        </p:spPr>
        <p:txBody>
          <a:bodyPr/>
          <a:lstStyle/>
          <a:p>
            <a:r>
              <a:rPr lang="en-US" dirty="0"/>
              <a:t>LANDING PAGE:</a:t>
            </a:r>
            <a:endParaRPr lang="en-IN" dirty="0"/>
          </a:p>
        </p:txBody>
      </p:sp>
      <p:pic>
        <p:nvPicPr>
          <p:cNvPr id="3" name="Picture 2"/>
          <p:cNvPicPr>
            <a:picLocks noChangeAspect="1"/>
          </p:cNvPicPr>
          <p:nvPr/>
        </p:nvPicPr>
        <p:blipFill>
          <a:blip r:embed="rId1"/>
          <a:stretch>
            <a:fillRect/>
          </a:stretch>
        </p:blipFill>
        <p:spPr>
          <a:xfrm>
            <a:off x="838200" y="1752600"/>
            <a:ext cx="7704584" cy="4191000"/>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14748"/>
            <a:ext cx="7315200" cy="1154097"/>
          </a:xfrm>
        </p:spPr>
        <p:txBody>
          <a:bodyPr/>
          <a:lstStyle/>
          <a:p>
            <a:r>
              <a:rPr lang="en-US" dirty="0"/>
              <a:t>REGISTER PAGE:</a:t>
            </a:r>
            <a:endParaRPr lang="en-IN" dirty="0"/>
          </a:p>
        </p:txBody>
      </p:sp>
      <p:pic>
        <p:nvPicPr>
          <p:cNvPr id="3" name="Picture 2"/>
          <p:cNvPicPr>
            <a:picLocks noChangeAspect="1"/>
          </p:cNvPicPr>
          <p:nvPr/>
        </p:nvPicPr>
        <p:blipFill>
          <a:blip r:embed="rId1"/>
          <a:stretch>
            <a:fillRect/>
          </a:stretch>
        </p:blipFill>
        <p:spPr>
          <a:xfrm>
            <a:off x="1371600" y="1447800"/>
            <a:ext cx="6096000" cy="4970145"/>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228600"/>
            <a:ext cx="7315200" cy="1154097"/>
          </a:xfrm>
        </p:spPr>
        <p:txBody>
          <a:bodyPr/>
          <a:lstStyle/>
          <a:p>
            <a:r>
              <a:rPr lang="en-US" dirty="0"/>
              <a:t>LOGIN PAGE:</a:t>
            </a:r>
            <a:endParaRPr lang="en-IN" dirty="0"/>
          </a:p>
        </p:txBody>
      </p:sp>
      <p:pic>
        <p:nvPicPr>
          <p:cNvPr id="3" name="Picture 2"/>
          <p:cNvPicPr>
            <a:picLocks noChangeAspect="1"/>
          </p:cNvPicPr>
          <p:nvPr/>
        </p:nvPicPr>
        <p:blipFill>
          <a:blip r:embed="rId1"/>
          <a:stretch>
            <a:fillRect/>
          </a:stretch>
        </p:blipFill>
        <p:spPr>
          <a:xfrm>
            <a:off x="762000" y="1400174"/>
            <a:ext cx="7010399" cy="4881303"/>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0"/>
            <a:ext cx="7315200" cy="1154097"/>
          </a:xfrm>
        </p:spPr>
        <p:txBody>
          <a:bodyPr/>
          <a:lstStyle/>
          <a:p>
            <a:r>
              <a:rPr lang="en-US" dirty="0"/>
              <a:t>HOME PAGE:</a:t>
            </a:r>
            <a:endParaRPr lang="en-IN" dirty="0"/>
          </a:p>
        </p:txBody>
      </p:sp>
      <p:pic>
        <p:nvPicPr>
          <p:cNvPr id="3" name="Picture 2"/>
          <p:cNvPicPr>
            <a:picLocks noChangeAspect="1"/>
          </p:cNvPicPr>
          <p:nvPr/>
        </p:nvPicPr>
        <p:blipFill>
          <a:blip r:embed="rId1"/>
          <a:stretch>
            <a:fillRect/>
          </a:stretch>
        </p:blipFill>
        <p:spPr>
          <a:xfrm>
            <a:off x="609600" y="1828800"/>
            <a:ext cx="7966306" cy="4038600"/>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152400"/>
            <a:ext cx="7315200" cy="1154097"/>
          </a:xfrm>
        </p:spPr>
        <p:txBody>
          <a:bodyPr/>
          <a:lstStyle/>
          <a:p>
            <a:r>
              <a:rPr lang="en-US" dirty="0"/>
              <a:t>DATABASE PAGE:</a:t>
            </a:r>
            <a:endParaRPr lang="en-IN" dirty="0"/>
          </a:p>
        </p:txBody>
      </p:sp>
      <p:pic>
        <p:nvPicPr>
          <p:cNvPr id="3" name="Picture 2"/>
          <p:cNvPicPr>
            <a:picLocks noChangeAspect="1"/>
          </p:cNvPicPr>
          <p:nvPr/>
        </p:nvPicPr>
        <p:blipFill>
          <a:blip r:embed="rId1"/>
          <a:stretch>
            <a:fillRect/>
          </a:stretch>
        </p:blipFill>
        <p:spPr>
          <a:xfrm>
            <a:off x="813234" y="2057400"/>
            <a:ext cx="7325941" cy="3581400"/>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152400"/>
            <a:ext cx="7315200" cy="1154097"/>
          </a:xfrm>
        </p:spPr>
        <p:txBody>
          <a:bodyPr/>
          <a:lstStyle/>
          <a:p>
            <a:r>
              <a:rPr lang="en-US" dirty="0"/>
              <a:t>INPUT PAGE:</a:t>
            </a:r>
            <a:endParaRPr lang="en-IN" dirty="0"/>
          </a:p>
        </p:txBody>
      </p:sp>
      <p:pic>
        <p:nvPicPr>
          <p:cNvPr id="3" name="Picture 2"/>
          <p:cNvPicPr>
            <a:picLocks noChangeAspect="1"/>
          </p:cNvPicPr>
          <p:nvPr/>
        </p:nvPicPr>
        <p:blipFill>
          <a:blip r:embed="rId1"/>
          <a:stretch>
            <a:fillRect/>
          </a:stretch>
        </p:blipFill>
        <p:spPr>
          <a:xfrm>
            <a:off x="1153711" y="1600200"/>
            <a:ext cx="6809715" cy="4267200"/>
          </a:xfrm>
          <a:prstGeom prst="rect">
            <a:avLst/>
          </a:prstGeo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228600"/>
            <a:ext cx="7315200" cy="1154097"/>
          </a:xfrm>
        </p:spPr>
        <p:txBody>
          <a:bodyPr/>
          <a:lstStyle/>
          <a:p>
            <a:r>
              <a:rPr lang="en-US" dirty="0"/>
              <a:t>OUTPUT PAGE:</a:t>
            </a:r>
            <a:endParaRPr lang="en-IN" dirty="0"/>
          </a:p>
        </p:txBody>
      </p:sp>
      <p:pic>
        <p:nvPicPr>
          <p:cNvPr id="3" name="Picture 2"/>
          <p:cNvPicPr>
            <a:picLocks noChangeAspect="1"/>
          </p:cNvPicPr>
          <p:nvPr/>
        </p:nvPicPr>
        <p:blipFill>
          <a:blip r:embed="rId1"/>
          <a:stretch>
            <a:fillRect/>
          </a:stretch>
        </p:blipFill>
        <p:spPr>
          <a:xfrm>
            <a:off x="470261" y="1905000"/>
            <a:ext cx="8203478" cy="3981768"/>
          </a:xfrm>
          <a:prstGeom prst="rect">
            <a:avLst/>
          </a:prstGeo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609600"/>
            <a:ext cx="7315200" cy="1066799"/>
          </a:xfrm>
        </p:spPr>
        <p:txBody>
          <a:bodyPr/>
          <a:lstStyle/>
          <a:p>
            <a:r>
              <a:rPr lang="en-IN" b="1" dirty="0"/>
              <a:t>Conclusion:</a:t>
            </a:r>
            <a:endParaRPr lang="en-IN" dirty="0"/>
          </a:p>
        </p:txBody>
      </p:sp>
      <p:sp>
        <p:nvSpPr>
          <p:cNvPr id="3" name="Content Placeholder 2"/>
          <p:cNvSpPr>
            <a:spLocks noGrp="1"/>
          </p:cNvSpPr>
          <p:nvPr>
            <p:ph idx="1"/>
          </p:nvPr>
        </p:nvSpPr>
        <p:spPr>
          <a:xfrm>
            <a:off x="916858" y="2343027"/>
            <a:ext cx="7315200" cy="4480560"/>
          </a:xfrm>
        </p:spPr>
        <p:txBody>
          <a:bodyPr>
            <a:normAutofit/>
          </a:bodyPr>
          <a:lstStyle/>
          <a:p>
            <a:r>
              <a:rPr lang="en-IN" dirty="0"/>
              <a:t>The analytical process started from data cleaning and processing, missing value, exploratory analysis and finally model building and evaluation. The best accuracy on public test set is higher accuracy score will be find out. This application can help to find the Prediction of stress level using </a:t>
            </a:r>
            <a:r>
              <a:rPr lang="en-IN" dirty="0" err="1"/>
              <a:t>Neurocardio</a:t>
            </a:r>
            <a:r>
              <a:rPr lang="en-IN" dirty="0"/>
              <a:t> symptoms.</a:t>
            </a:r>
            <a:endParaRPr lang="en-IN"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400" y="609601"/>
            <a:ext cx="7315200" cy="1066799"/>
          </a:xfrm>
        </p:spPr>
        <p:txBody>
          <a:bodyPr>
            <a:normAutofit/>
          </a:bodyPr>
          <a:lstStyle/>
          <a:p>
            <a:pPr marL="45720"/>
            <a:r>
              <a:rPr lang="en-IN" b="1" dirty="0"/>
              <a:t>Future Work:</a:t>
            </a:r>
            <a:endParaRPr lang="en-IN" dirty="0"/>
          </a:p>
        </p:txBody>
      </p:sp>
      <p:sp>
        <p:nvSpPr>
          <p:cNvPr id="3" name="Content Placeholder 2"/>
          <p:cNvSpPr>
            <a:spLocks noGrp="1"/>
          </p:cNvSpPr>
          <p:nvPr>
            <p:ph idx="1"/>
          </p:nvPr>
        </p:nvSpPr>
        <p:spPr>
          <a:xfrm>
            <a:off x="914400" y="1828801"/>
            <a:ext cx="7315200" cy="4480560"/>
          </a:xfrm>
        </p:spPr>
        <p:txBody>
          <a:bodyPr>
            <a:normAutofit/>
          </a:bodyPr>
          <a:lstStyle/>
          <a:p>
            <a:pPr lvl="0"/>
            <a:r>
              <a:rPr lang="en-IN" dirty="0"/>
              <a:t>Heart Attack prediction to connect with cloud.</a:t>
            </a:r>
            <a:endParaRPr lang="en-IN" dirty="0"/>
          </a:p>
          <a:p>
            <a:pPr lvl="0"/>
            <a:r>
              <a:rPr lang="en-IN" dirty="0"/>
              <a:t>To optimize the work to implement in Artificial Intelligence environment.</a:t>
            </a:r>
            <a:endParaRPr lang="en-IN" dirty="0"/>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Perspective">
  <a:themeElements>
    <a:clrScheme name="Perspective">
      <a:dk1>
        <a:sysClr val="windowText" lastClr="000000"/>
      </a:dk1>
      <a:lt1>
        <a:sysClr val="window" lastClr="FFFFFF"/>
      </a:lt1>
      <a:dk2>
        <a:srgbClr val="283138"/>
      </a:dk2>
      <a:lt2>
        <a:srgbClr val="FF8600"/>
      </a:lt2>
      <a:accent1>
        <a:srgbClr val="838D9B"/>
      </a:accent1>
      <a:accent2>
        <a:srgbClr val="D2610C"/>
      </a:accent2>
      <a:accent3>
        <a:srgbClr val="80716A"/>
      </a:accent3>
      <a:accent4>
        <a:srgbClr val="94147C"/>
      </a:accent4>
      <a:accent5>
        <a:srgbClr val="5D5AD2"/>
      </a:accent5>
      <a:accent6>
        <a:srgbClr val="6F6C7D"/>
      </a:accent6>
      <a:hlink>
        <a:srgbClr val="6187E3"/>
      </a:hlink>
      <a:folHlink>
        <a:srgbClr val="7B8EB8"/>
      </a:folHlink>
    </a:clrScheme>
    <a:fontScheme name="Office Classic 2">
      <a:majorFont>
        <a:latin typeface="Arial"/>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Perspective">
      <a:fillStyleLst>
        <a:solidFill>
          <a:schemeClr val="phClr"/>
        </a:solidFill>
        <a:gradFill rotWithShape="1">
          <a:gsLst>
            <a:gs pos="0">
              <a:schemeClr val="phClr">
                <a:tint val="50000"/>
                <a:alpha val="100000"/>
                <a:satMod val="160000"/>
                <a:lumMod val="105000"/>
              </a:schemeClr>
            </a:gs>
            <a:gs pos="41000">
              <a:schemeClr val="phClr">
                <a:tint val="57000"/>
                <a:satMod val="180000"/>
                <a:lumMod val="99000"/>
              </a:schemeClr>
            </a:gs>
            <a:gs pos="100000">
              <a:schemeClr val="phClr">
                <a:tint val="80000"/>
                <a:satMod val="200000"/>
                <a:lumMod val="104000"/>
              </a:schemeClr>
            </a:gs>
          </a:gsLst>
          <a:lin ang="5400000" scaled="1"/>
        </a:gradFill>
        <a:gradFill rotWithShape="1">
          <a:gsLst>
            <a:gs pos="0">
              <a:schemeClr val="phClr">
                <a:tint val="96000"/>
                <a:satMod val="130000"/>
                <a:lumMod val="114000"/>
              </a:schemeClr>
            </a:gs>
            <a:gs pos="60000">
              <a:schemeClr val="phClr">
                <a:tint val="100000"/>
                <a:satMod val="106000"/>
                <a:lumMod val="110000"/>
              </a:schemeClr>
            </a:gs>
            <a:gs pos="100000">
              <a:schemeClr val="phClr"/>
            </a:gs>
          </a:gsLst>
          <a:lin ang="5400000" scaled="0"/>
        </a:gradFill>
      </a:fillStyleLst>
      <a:lnStyleLst>
        <a:ln w="12700" cap="flat" cmpd="sng" algn="ctr">
          <a:solidFill>
            <a:schemeClr val="phClr"/>
          </a:solidFill>
          <a:prstDash val="solid"/>
        </a:ln>
        <a:ln w="19050" cap="flat" cmpd="sng" algn="ctr">
          <a:solidFill>
            <a:schemeClr val="phClr"/>
          </a:solidFill>
          <a:prstDash val="solid"/>
        </a:ln>
        <a:ln w="28575" cap="flat" cmpd="sng" algn="ctr">
          <a:solidFill>
            <a:schemeClr val="phClr"/>
          </a:solidFill>
          <a:prstDash val="solid"/>
        </a:ln>
      </a:lnStyleLst>
      <a:effectStyleLst>
        <a:effectStyle>
          <a:effectLst>
            <a:outerShdw blurRad="50800" dist="38100" dir="5400000" rotWithShape="0">
              <a:srgbClr val="000000">
                <a:alpha val="28000"/>
              </a:srgbClr>
            </a:outerShdw>
          </a:effectLst>
        </a:effectStyle>
        <a:effectStyle>
          <a:effectLst>
            <a:outerShdw blurRad="47625" dist="38100" dir="5400000" sy="98000" rotWithShape="0">
              <a:srgbClr val="000000">
                <a:alpha val="48000"/>
              </a:srgbClr>
            </a:outerShdw>
          </a:effectLst>
          <a:scene3d>
            <a:camera prst="orthographicFront">
              <a:rot lat="0" lon="0" rev="0"/>
            </a:camera>
            <a:lightRig rig="twoPt" dir="br">
              <a:rot lat="0" lon="0" rev="8700000"/>
            </a:lightRig>
          </a:scene3d>
          <a:sp3d prstMaterial="matte">
            <a:bevelT w="25400" h="53975"/>
          </a:sp3d>
        </a:effectStyle>
        <a:effectStyle>
          <a:effectLst>
            <a:reflection blurRad="12700" stA="24000" endPos="28000" dist="50800" dir="5400000" sy="-100000" rotWithShape="0"/>
          </a:effectLst>
          <a:scene3d>
            <a:camera prst="orthographicFront">
              <a:rot lat="0" lon="0" rev="0"/>
            </a:camera>
            <a:lightRig rig="threePt" dir="t">
              <a:rot lat="0" lon="0" rev="4800000"/>
            </a:lightRig>
          </a:scene3d>
          <a:sp3d>
            <a:bevelT w="69850" h="31750"/>
          </a:sp3d>
        </a:effectStyle>
      </a:effectStyleLst>
      <a:bgFillStyleLst>
        <a:solidFill>
          <a:schemeClr val="phClr"/>
        </a:solidFill>
        <a:gradFill rotWithShape="1">
          <a:gsLst>
            <a:gs pos="0">
              <a:schemeClr val="phClr">
                <a:tint val="100000"/>
                <a:shade val="80000"/>
                <a:satMod val="100000"/>
                <a:lumMod val="100000"/>
              </a:schemeClr>
            </a:gs>
            <a:gs pos="65000">
              <a:schemeClr val="phClr">
                <a:tint val="100000"/>
                <a:shade val="95000"/>
                <a:satMod val="100000"/>
                <a:lumMod val="100000"/>
              </a:schemeClr>
            </a:gs>
            <a:gs pos="100000">
              <a:schemeClr val="phClr">
                <a:tint val="88000"/>
                <a:shade val="100000"/>
                <a:satMod val="400000"/>
                <a:lumMod val="100000"/>
              </a:schemeClr>
            </a:gs>
          </a:gsLst>
          <a:lin ang="5400000" scaled="0"/>
        </a:gradFill>
        <a:blipFill rotWithShape="1">
          <a:blip xmlns:r="http://schemas.openxmlformats.org/officeDocument/2006/relationships" r:embed="rId1">
            <a:duotone>
              <a:schemeClr val="phClr">
                <a:tint val="95000"/>
                <a:satMod val="90000"/>
              </a:schemeClr>
              <a:schemeClr val="phClr">
                <a:shade val="92000"/>
              </a:schemeClr>
            </a:duotone>
          </a:blip>
          <a:tile tx="0" ty="0" sx="100000" sy="100000" flip="none" algn="tl"/>
        </a:blip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Perspective</Template>
  <TotalTime>0</TotalTime>
  <Words>17590</Words>
  <Application>WPS Presentation</Application>
  <PresentationFormat>On-screen Show (4:3)</PresentationFormat>
  <Paragraphs>172</Paragraphs>
  <Slides>34</Slides>
  <Notes>0</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34</vt:i4>
      </vt:variant>
    </vt:vector>
  </HeadingPairs>
  <TitlesOfParts>
    <vt:vector size="42" baseType="lpstr">
      <vt:lpstr>Arial</vt:lpstr>
      <vt:lpstr>SimSun</vt:lpstr>
      <vt:lpstr>Wingdings</vt:lpstr>
      <vt:lpstr>Times New Roman</vt:lpstr>
      <vt:lpstr>Microsoft YaHei</vt:lpstr>
      <vt:lpstr>Arial Unicode MS</vt:lpstr>
      <vt:lpstr>Calibri</vt:lpstr>
      <vt:lpstr>Perspective</vt:lpstr>
      <vt:lpstr>AI POWERED PREDICTION OF STRESS LEVEL WITH THE CO ORDINATION OF  HEART AND BRAIN USING MACHINE LEARNING</vt:lpstr>
      <vt:lpstr>Abstract:</vt:lpstr>
      <vt:lpstr>Existing System:</vt:lpstr>
      <vt:lpstr>Disadvantages:</vt:lpstr>
      <vt:lpstr>Proposed System:</vt:lpstr>
      <vt:lpstr>Advantages:</vt:lpstr>
      <vt:lpstr>Environmental Requirements:   </vt:lpstr>
      <vt:lpstr>INTRODUCTION:</vt:lpstr>
      <vt:lpstr>MACHINE LEARNING:</vt:lpstr>
      <vt:lpstr>Preparing the Dataset :</vt:lpstr>
      <vt:lpstr>Literature survey:</vt:lpstr>
      <vt:lpstr>Literature survey:</vt:lpstr>
      <vt:lpstr>Literature survey:</vt:lpstr>
      <vt:lpstr>Objectives:</vt:lpstr>
      <vt:lpstr>Scope of the Project:</vt:lpstr>
      <vt:lpstr>List of Modules:</vt:lpstr>
      <vt:lpstr>PYTHON:</vt:lpstr>
      <vt:lpstr>System Architecture :</vt:lpstr>
      <vt:lpstr>Use Case Diagram:</vt:lpstr>
      <vt:lpstr>Class Diagram :</vt:lpstr>
      <vt:lpstr>Module description:</vt:lpstr>
      <vt:lpstr>Data Validation/ Cleaning/Preparing Process:</vt:lpstr>
      <vt:lpstr>Exploration data analysis of visualization</vt:lpstr>
      <vt:lpstr>Comparing Algorithm with prediction in the form of best accuracy result:</vt:lpstr>
      <vt:lpstr>Algorithm Explanation:</vt:lpstr>
      <vt:lpstr>LANDING PAGE:</vt:lpstr>
      <vt:lpstr>REGISTER PAGE:</vt:lpstr>
      <vt:lpstr>LOGIN PAGE:</vt:lpstr>
      <vt:lpstr>HOME PAGE:</vt:lpstr>
      <vt:lpstr>DATABASE PAGE:</vt:lpstr>
      <vt:lpstr>INPUT PAGE:</vt:lpstr>
      <vt:lpstr>OUTPUT PAGE:</vt:lpstr>
      <vt:lpstr>Conclusion:</vt:lpstr>
      <vt:lpstr>Future Work:</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Detection of human facial expression using CNN model</dc:title>
  <dc:creator>SPIRO71-COMMUNI</dc:creator>
  <cp:lastModifiedBy>N. Janani</cp:lastModifiedBy>
  <cp:revision>141</cp:revision>
  <dcterms:created xsi:type="dcterms:W3CDTF">2006-08-16T00:00:00Z</dcterms:created>
  <dcterms:modified xsi:type="dcterms:W3CDTF">2026-02-04T05:56:48Z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A62526C9012D4B7AA8D2B8B907EDDABB_12</vt:lpwstr>
  </property>
  <property fmtid="{D5CDD505-2E9C-101B-9397-08002B2CF9AE}" pid="3" name="KSOProductBuildVer">
    <vt:lpwstr>1033-12.2.0.23196</vt:lpwstr>
  </property>
</Properties>
</file>